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0079C2"/>
                </a:solidFill>
              </a:rPr>
              <a:t>ДЕПАРТАМЕНТ ПО СТРАТЕГИИ, ИННОВАЦИЯМ И УСТОЙЧИВОМУ РАЗВИТИЮ (ДСИиУР)</a:t>
            </a:r>
          </a:p>
          <a:p>
            <a:pPr>
              <a:spcBef>
                <a:spcPts val="1400"/>
              </a:spcBef>
            </a:pPr>
            <a:r>
              <a:rPr b="1" sz="3200">
                <a:solidFill>
                  <a:srgbClr val="FFFFFF"/>
                </a:solidFill>
              </a:rPr>
              <a:t>Сквозная система мультиагентного ИИ
для стратегической аналитики и планирования</a:t>
            </a:r>
          </a:p>
          <a:p>
            <a:pPr>
              <a:spcBef>
                <a:spcPts val="1600"/>
              </a:spcBef>
            </a:pPr>
            <a:r>
              <a:rPr sz="1500">
                <a:solidFill>
                  <a:srgbClr val="C8DCF0"/>
                </a:solidFill>
              </a:rPr>
              <a:t>Архитектурный проект, стек технологий, методология внедрения и план перехода в On-Premise</a:t>
            </a:r>
          </a:p>
          <a:p>
            <a:pPr>
              <a:spcBef>
                <a:spcPts val="2800"/>
              </a:spcBef>
            </a:pPr>
            <a:r>
              <a:rPr sz="1150">
                <a:solidFill>
                  <a:srgbClr val="A0BEDC"/>
                </a:solidFill>
              </a:rPr>
              <a:t>Кандидат / Ведущий разработчик: Лаврентий  |  Горизонт PoC: Сентябрь – Декабрь  |  Локация: СПб, Почтамтская, 3-5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079C2"/>
                </a:solidFill>
              </a:rPr>
              <a:t>ПРОБЛЕМАТИКА И ЦЕЛЕВЫЕ ЭФФЕКТЫ</a:t>
            </a:r>
          </a:p>
          <a:p>
            <a:pPr>
              <a:spcBef>
                <a:spcPts val="300"/>
              </a:spcBef>
            </a:pPr>
            <a:r>
              <a:rPr sz="1800" b="1">
                <a:solidFill>
                  <a:srgbClr val="002D5A"/>
                </a:solidFill>
              </a:rPr>
              <a:t>Executive Summary: Автоматизация аналитики и устранение разрыва со стратегией отделов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4748B"/>
                </a:solidFill>
              </a:rPr>
              <a:t>Система переводит рутинную подготовку стратегических материалов на конвейер автономных ИИ-агентов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91440"/>
          <a:lstStyle/>
          <a:p>
            <a:pPr algn="ctr"/>
            <a:r>
              <a:rPr b="1" sz="3200">
                <a:solidFill>
                  <a:srgbClr val="0079C2"/>
                </a:solidFill>
              </a:rPr>
              <a:t>70%</a:t>
            </a:r>
          </a:p>
          <a:p>
            <a:pPr algn="ctr">
              <a:spcBef>
                <a:spcPts val="200"/>
              </a:spcBef>
            </a:pPr>
            <a:r>
              <a:rPr b="1" sz="1000">
                <a:solidFill>
                  <a:srgbClr val="002D5A"/>
                </a:solidFill>
              </a:rPr>
              <a:t>Сокращение рутины</a:t>
            </a:r>
          </a:p>
          <a:p>
            <a:pPr algn="ctr">
              <a:spcBef>
                <a:spcPts val="100"/>
              </a:spcBef>
            </a:pPr>
            <a:r>
              <a:rPr sz="850">
                <a:solidFill>
                  <a:srgbClr val="64748B"/>
                </a:solidFill>
              </a:rPr>
              <a:t>Высвобождение времени аналитиков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2918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91440"/>
          <a:lstStyle/>
          <a:p>
            <a:pPr algn="ctr"/>
            <a:r>
              <a:rPr b="1" sz="3200">
                <a:solidFill>
                  <a:srgbClr val="10956A"/>
                </a:solidFill>
              </a:rPr>
              <a:t>&lt; 2 часов</a:t>
            </a:r>
          </a:p>
          <a:p>
            <a:pPr algn="ctr">
              <a:spcBef>
                <a:spcPts val="200"/>
              </a:spcBef>
            </a:pPr>
            <a:r>
              <a:rPr b="1" sz="1000">
                <a:solidFill>
                  <a:srgbClr val="002D5A"/>
                </a:solidFill>
              </a:rPr>
              <a:t>Скорость драфта инициативы</a:t>
            </a:r>
          </a:p>
          <a:p>
            <a:pPr algn="ctr">
              <a:spcBef>
                <a:spcPts val="100"/>
              </a:spcBef>
            </a:pPr>
            <a:r>
              <a:rPr sz="850">
                <a:solidFill>
                  <a:srgbClr val="64748B"/>
                </a:solidFill>
              </a:rPr>
              <a:t>Вместо 2 недель ручной компиляции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413455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91440"/>
          <a:lstStyle/>
          <a:p>
            <a:pPr algn="ctr"/>
            <a:r>
              <a:rPr b="1" sz="3200">
                <a:solidFill>
                  <a:srgbClr val="0079C2"/>
                </a:solidFill>
              </a:rPr>
              <a:t>3 агента</a:t>
            </a:r>
          </a:p>
          <a:p>
            <a:pPr algn="ctr">
              <a:spcBef>
                <a:spcPts val="200"/>
              </a:spcBef>
            </a:pPr>
            <a:r>
              <a:rPr b="1" sz="1000">
                <a:solidFill>
                  <a:srgbClr val="002D5A"/>
                </a:solidFill>
              </a:rPr>
              <a:t>Сквозная цепочка ценности</a:t>
            </a:r>
          </a:p>
          <a:p>
            <a:pPr algn="ctr">
              <a:spcBef>
                <a:spcPts val="100"/>
              </a:spcBef>
            </a:pPr>
            <a:r>
              <a:rPr sz="850">
                <a:solidFill>
                  <a:srgbClr val="64748B"/>
                </a:solidFill>
              </a:rPr>
              <a:t>Аналитик -&gt; Стратег -&gt; Презентатор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51206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/>
            <a:r>
              <a:rPr b="1" sz="1300">
                <a:solidFill>
                  <a:srgbClr val="002D5A"/>
                </a:solidFill>
              </a:rPr>
              <a:t>Текущие вызовы процесса аналитики в ДСИиУР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Высокая трудоемкость мониторинга: </a:t>
            </a:r>
            <a:r>
              <a:rPr sz="1050">
                <a:solidFill>
                  <a:srgbClr val="1E293B"/>
                </a:solidFill>
              </a:rPr>
              <a:t>До 70% рабочего времени уходит на сбор новостей, ручной парсинг сотен страниц отчетов и перенос таблиц.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Риск пропуска критических сигналов: </a:t>
            </a:r>
            <a:r>
              <a:rPr sz="1050">
                <a:solidFill>
                  <a:srgbClr val="1E293B"/>
                </a:solidFill>
              </a:rPr>
              <a:t>Скрытые санкционные ограничения на верфи или дефицит судов часто выявляются с запозданием.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Разрыв коммуникации (Communication Gap): </a:t>
            </a:r>
            <a:r>
              <a:rPr sz="1050">
                <a:solidFill>
                  <a:srgbClr val="1E293B"/>
                </a:solidFill>
              </a:rPr>
              <a:t>Профильные подразделения (Бурение, Логистика, ИТ) не имеют времени читать 100-страничные стратегии.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Ручная верстка слайдов: </a:t>
            </a:r>
            <a:r>
              <a:rPr sz="1050">
                <a:solidFill>
                  <a:srgbClr val="1E293B"/>
                </a:solidFill>
              </a:rPr>
              <a:t>Аналитики тратят часы на механическое форматирование презентаций в PowerPoint.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34640"/>
            <a:ext cx="51206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2834640"/>
            <a:ext cx="5242255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/>
            <a:r>
              <a:rPr b="1" sz="1300">
                <a:solidFill>
                  <a:srgbClr val="002D5A"/>
                </a:solidFill>
              </a:rPr>
              <a:t>Целевое решение: Сквозная мультиагентная фабрика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Агент 1 (Аналитик): </a:t>
            </a:r>
            <a:r>
              <a:rPr sz="1050">
                <a:solidFill>
                  <a:srgbClr val="1E293B"/>
                </a:solidFill>
              </a:rPr>
              <a:t>Непрерывный сбор открытых данных, детектор сигналов раннего предупреждения и бесплатный веб-поиск.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Агент 2 (Стратег): </a:t>
            </a:r>
            <a:r>
              <a:rPr sz="1050">
                <a:solidFill>
                  <a:srgbClr val="1E293B"/>
                </a:solidFill>
              </a:rPr>
              <a:t>Сценарный синтез инициатив (SWOT/PESTEL) и нода критики Reflexion с отсевом нереалистичных гипотез.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Агент 3 (Презентатор): </a:t>
            </a:r>
            <a:r>
              <a:rPr sz="1050">
                <a:solidFill>
                  <a:srgbClr val="1E293B"/>
                </a:solidFill>
              </a:rPr>
              <a:t>Каскадирование общекорпоративной цели на профиль подразделения и автоматическая сборка .pptx.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Полная автономность: </a:t>
            </a:r>
            <a:r>
              <a:rPr sz="1050">
                <a:solidFill>
                  <a:srgbClr val="1E293B"/>
                </a:solidFill>
              </a:rPr>
              <a:t>Каждый агент генерирует готовые файлы Word, HTML и PPTX для моментального использования сотрудниками.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834640"/>
            <a:ext cx="5242255" cy="73152"/>
          </a:xfrm>
          <a:prstGeom prst="rect">
            <a:avLst/>
          </a:prstGeom>
          <a:solidFill>
            <a:srgbClr val="10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079C2"/>
                </a:solidFill>
              </a:rPr>
              <a:t>DEEP RESEARCH &amp; МИРОВОЙ ОПЫТ</a:t>
            </a:r>
          </a:p>
          <a:p>
            <a:pPr>
              <a:spcBef>
                <a:spcPts val="300"/>
              </a:spcBef>
            </a:pPr>
            <a:r>
              <a:rPr sz="1800" b="1">
                <a:solidFill>
                  <a:srgbClr val="002D5A"/>
                </a:solidFill>
              </a:rPr>
              <a:t>Мировые бенчмарки: Архитектура объединяет практику McKinsey Lilli и BCG GeneAI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4748B"/>
                </a:solidFill>
              </a:rPr>
              <a:t>Опыт лидеров стратегического консалтинга доказывает эффективность агентных конвейеров над единичными чат-ботами</a:t>
            </a:r>
          </a:p>
        </p:txBody>
      </p:sp>
      <p:pic>
        <p:nvPicPr>
          <p:cNvPr id="4" name="Picture 3" descr="consulting_benchmarks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463040"/>
            <a:ext cx="43278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/>
            <a:r>
              <a:rPr b="1" sz="1300">
                <a:solidFill>
                  <a:srgbClr val="002D5A"/>
                </a:solidFill>
              </a:rPr>
              <a:t>Ключевые бенчмарки и выводы для проекта Газпром нефти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McKinsey &amp; Company (Lilli): </a:t>
            </a:r>
            <a:r>
              <a:rPr sz="1050">
                <a:solidFill>
                  <a:srgbClr val="1E293B"/>
                </a:solidFill>
              </a:rPr>
              <a:t>Внутренняя платформа аккумулирует 100 000+ исследований. Агенты выдают синтезированное мемо со ссылками на первоисточники за 2 часа вместо 2 недель.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Boston Consulting Group (BCG GeneAI): </a:t>
            </a:r>
            <a:r>
              <a:rPr sz="1050">
                <a:solidFill>
                  <a:srgbClr val="1E293B"/>
                </a:solidFill>
              </a:rPr>
              <a:t>Паттерн 'Фабрика слайдов' — отказ от диффузионных картинок в пользу строгой векторной OpenXML сборки презентаций.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Нефтегазовый сектор (Saudi Aramco, Shell): </a:t>
            </a:r>
            <a:r>
              <a:rPr sz="1050">
                <a:solidFill>
                  <a:srgbClr val="1E293B"/>
                </a:solidFill>
              </a:rPr>
              <a:t>Модели Aramco Metis ведут непрерывный мониторинг рынков сырья и танкерного флота, предупреждая о санкциях.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Наша адаптация для ДСИиУР: </a:t>
            </a:r>
            <a:r>
              <a:rPr sz="1050">
                <a:solidFill>
                  <a:srgbClr val="1E293B"/>
                </a:solidFill>
              </a:rPr>
              <a:t>Объединяем McKinsey Lilli (RAG-синтез аналитики) и BCG (векторный python-pptx), исключая платные сервисы за счет бесплатного duckduckgo-search.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0" y="1463040"/>
            <a:ext cx="4327855" cy="73152"/>
          </a:xfrm>
          <a:prstGeom prst="rect">
            <a:avLst/>
          </a:prstGeom>
          <a:solidFill>
            <a:srgbClr val="007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079C2"/>
                </a:solidFill>
              </a:rPr>
              <a:t>АРХИТЕКТУРНЫЙ ДИЗАЙН СИСТЕМЫ</a:t>
            </a:r>
          </a:p>
          <a:p>
            <a:pPr>
              <a:spcBef>
                <a:spcPts val="300"/>
              </a:spcBef>
            </a:pPr>
            <a:r>
              <a:rPr sz="1800" b="1">
                <a:solidFill>
                  <a:srgbClr val="002D5A"/>
                </a:solidFill>
              </a:rPr>
              <a:t>Сквозная архитектура системы: 3 специализированных агента и потоки данных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4748B"/>
                </a:solidFill>
              </a:rPr>
              <a:t>Детерминированный конвейер передачи типизированных состояний от открытых данных до адресных презентаций</a:t>
            </a:r>
          </a:p>
        </p:txBody>
      </p:sp>
      <p:pic>
        <p:nvPicPr>
          <p:cNvPr id="4" name="Picture 3" descr="architecture_flow_r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463040"/>
            <a:ext cx="43278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/>
            <a:r>
              <a:rPr b="1" sz="1300">
                <a:solidFill>
                  <a:srgbClr val="002D5A"/>
                </a:solidFill>
              </a:rPr>
              <a:t>Сквозная логика передачи данных между агентами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Этап 1 (Аналитик): </a:t>
            </a:r>
            <a:r>
              <a:rPr sz="1050">
                <a:solidFill>
                  <a:srgbClr val="1E293B"/>
                </a:solidFill>
              </a:rPr>
              <a:t>Парсит отраслевые PDF через Docling и осуществляет бесплатный веб-поиск. Формирует контракт AnalystOutput.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Этап 2 (Стратег): </a:t>
            </a:r>
            <a:r>
              <a:rPr sz="1050">
                <a:solidFill>
                  <a:srgbClr val="1E293B"/>
                </a:solidFill>
              </a:rPr>
              <a:t>Принимает аналитику, синтезирует инициативы и прогоняет их через цикл критики (Reflexion) до балла &gt;= 8.0.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Этап 3 (Презентатор): </a:t>
            </a:r>
            <a:r>
              <a:rPr sz="1050">
                <a:solidFill>
                  <a:srgbClr val="1E293B"/>
                </a:solidFill>
              </a:rPr>
              <a:t>Считывает профиль департамента (YAML) и собирает презентацию в корпоративном мастер-шаблоне python-pptx.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Двойной вывод: </a:t>
            </a:r>
            <a:r>
              <a:rPr sz="1050">
                <a:solidFill>
                  <a:srgbClr val="1E293B"/>
                </a:solidFill>
              </a:rPr>
              <a:t>На каждом шаге формируется строгий JSON для системы и готовые документы Word/PPTX для аналитика.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0" y="1463040"/>
            <a:ext cx="4327855" cy="73152"/>
          </a:xfrm>
          <a:prstGeom prst="rect">
            <a:avLst/>
          </a:prstGeom>
          <a:solidFill>
            <a:srgbClr val="007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079C2"/>
                </a:solidFill>
              </a:rPr>
              <a:t>ПРАКТИЧЕСКИЙ КЕЙС / UI PROTOTYPE</a:t>
            </a:r>
          </a:p>
          <a:p>
            <a:pPr>
              <a:spcBef>
                <a:spcPts val="300"/>
              </a:spcBef>
            </a:pPr>
            <a:r>
              <a:rPr sz="1800" b="1">
                <a:solidFill>
                  <a:srgbClr val="002D5A"/>
                </a:solidFill>
              </a:rPr>
              <a:t>Рабочее пространство аналитика: Прототип интерактивного дашборда ДСИиУР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4748B"/>
                </a:solidFill>
              </a:rPr>
              <a:t>Единый центр мониторинга рыночных котировок, сигналов раннего предупреждения и генерации материалов</a:t>
            </a:r>
          </a:p>
        </p:txBody>
      </p:sp>
      <p:pic>
        <p:nvPicPr>
          <p:cNvPr id="4" name="Picture 3" descr="ui_dashboard_r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463040"/>
            <a:ext cx="43278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/>
            <a:r>
              <a:rPr b="1" sz="1300">
                <a:solidFill>
                  <a:srgbClr val="002D5A"/>
                </a:solidFill>
              </a:rPr>
              <a:t>Функциональные возможности интерфейса Streamlit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Котировки и котировочные коридоры: </a:t>
            </a:r>
            <a:r>
              <a:rPr sz="1050">
                <a:solidFill>
                  <a:srgbClr val="1E293B"/>
                </a:solidFill>
              </a:rPr>
              <a:t>Визуализация динамики Urals, Brent, фрахта танкеров Arc7 и природного газа в реальном времени.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Реестр Early Warning Signals: </a:t>
            </a:r>
            <a:r>
              <a:rPr sz="1050">
                <a:solidFill>
                  <a:srgbClr val="1E293B"/>
                </a:solidFill>
              </a:rPr>
              <a:t>Автоматическая классификация угроз по степени риска (High/Medium/Low) с доказательной базой.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Конструктор инициатив: </a:t>
            </a:r>
            <a:r>
              <a:rPr sz="1050">
                <a:solidFill>
                  <a:srgbClr val="1E293B"/>
                </a:solidFill>
              </a:rPr>
              <a:t>Возможность загрузить собственный PDF-отчет для изолированной сессионной оценки Стратегом.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Экспорт артефактов в 1 клик: </a:t>
            </a:r>
            <a:r>
              <a:rPr sz="1050">
                <a:solidFill>
                  <a:srgbClr val="1E293B"/>
                </a:solidFill>
              </a:rPr>
              <a:t>Скачивание сводного дайджеста Word, интерактивного HTML-мемо и готовых слайдов PowerPoint.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0" y="1463040"/>
            <a:ext cx="4327855" cy="73152"/>
          </a:xfrm>
          <a:prstGeom prst="rect">
            <a:avLst/>
          </a:prstGeom>
          <a:solidFill>
            <a:srgbClr val="007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079C2"/>
                </a:solidFill>
              </a:rPr>
              <a:t>ДЕТАЛИЗАЦИЯ: АГЕНТ 1</a:t>
            </a:r>
          </a:p>
          <a:p>
            <a:pPr>
              <a:spcBef>
                <a:spcPts val="300"/>
              </a:spcBef>
            </a:pPr>
            <a:r>
              <a:rPr sz="1800" b="1">
                <a:solidFill>
                  <a:srgbClr val="002D5A"/>
                </a:solidFill>
              </a:rPr>
              <a:t>Агент 1: Рыночный Аналитик — Advanced RAG, сигналы рисков и бесплатный поиск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4748B"/>
                </a:solidFill>
              </a:rPr>
              <a:t>Автономный сбор фактуры без использования дорогостоящих платных API поиска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/>
            <a:r>
              <a:rPr b="1" sz="1300">
                <a:solidFill>
                  <a:srgbClr val="002D5A"/>
                </a:solidFill>
              </a:rPr>
              <a:t>1. Сбор данных и бесплатный поиск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Бесплатный поиск duckduckgo-search: </a:t>
            </a:r>
            <a:r>
              <a:rPr sz="1050">
                <a:solidFill>
                  <a:srgbClr val="1E293B"/>
                </a:solidFill>
              </a:rPr>
              <a:t>Используется открытая библиотека Python. 0 рублей затрат, без регистрации, кредитных карт и API-ключей.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Парсинг сложных PDF через Docling: </a:t>
            </a:r>
            <a:r>
              <a:rPr sz="1050">
                <a:solidFill>
                  <a:srgbClr val="1E293B"/>
                </a:solidFill>
              </a:rPr>
              <a:t>Интеллектуальное извлечение многоколоночных таблиц и графиков из годовых отчетов ТЭК в Markdown.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Векторная база Qdrant в Docker: </a:t>
            </a:r>
            <a:r>
              <a:rPr sz="1050">
                <a:solidFill>
                  <a:srgbClr val="1E293B"/>
                </a:solidFill>
              </a:rPr>
              <a:t>Локальное хранение семантических чанков с возможностью мгновенного переноса в закрытый контур компании.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Гибридный поиск (Hybrid RAG): </a:t>
            </a:r>
            <a:r>
              <a:rPr sz="1050">
                <a:solidFill>
                  <a:srgbClr val="1E293B"/>
                </a:solidFill>
              </a:rPr>
              <a:t>Объединение BM25 и векторного поиска гарантирует точное нахождение названий верфей и цифр.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291840" cy="73152"/>
          </a:xfrm>
          <a:prstGeom prst="rect">
            <a:avLst/>
          </a:prstGeom>
          <a:solidFill>
            <a:srgbClr val="007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/>
            <a:r>
              <a:rPr b="1" sz="1300">
                <a:solidFill>
                  <a:srgbClr val="002D5A"/>
                </a:solidFill>
              </a:rPr>
              <a:t>2. Детектор сигналов раннего предупреждения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Выявление скрытых угроз: </a:t>
            </a:r>
            <a:r>
              <a:rPr sz="1050">
                <a:solidFill>
                  <a:srgbClr val="1E293B"/>
                </a:solidFill>
              </a:rPr>
              <a:t>Агент детектирует ранние признаки санкций, срыва сроков верфей или логистических заторов.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Классификация критичности: </a:t>
            </a:r>
            <a:r>
              <a:rPr sz="1050">
                <a:solidFill>
                  <a:srgbClr val="1E293B"/>
                </a:solidFill>
              </a:rPr>
              <a:t>Присвоение статусов Severity: High, Medium, Low.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Доказательная база (Evidence): </a:t>
            </a:r>
            <a:r>
              <a:rPr sz="1050">
                <a:solidFill>
                  <a:srgbClr val="1E293B"/>
                </a:solidFill>
              </a:rPr>
              <a:t>Каждый сигнал содержит точную прямую цитату из первоисточника с указанием даты и автора.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Рекомендации к действию: </a:t>
            </a:r>
            <a:r>
              <a:rPr sz="1050">
                <a:solidFill>
                  <a:srgbClr val="1E293B"/>
                </a:solidFill>
              </a:rPr>
              <a:t>Формулирование превентивных мер (например: 'Провести ревизию доступного ледового флота').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463040"/>
            <a:ext cx="32918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4134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/>
            <a:r>
              <a:rPr b="1" sz="1300">
                <a:solidFill>
                  <a:srgbClr val="002D5A"/>
                </a:solidFill>
              </a:rPr>
              <a:t>3. Выходной машинный контракт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Строгая валидация Pydantic v2: </a:t>
            </a:r>
            <a:r>
              <a:rPr sz="1050">
                <a:solidFill>
                  <a:srgbClr val="1E293B"/>
                </a:solidFill>
              </a:rPr>
              <a:t>Гарантия 100% отсутствия синтаксических ошибок в структуре ответа.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Структура контракта AnalystOutput: </a:t>
            </a:r>
            <a:r>
              <a:rPr sz="1050">
                <a:solidFill>
                  <a:srgbClr val="1E293B"/>
                </a:solidFill>
              </a:rPr>
              <a:t>  - industry_digest (сводный обзор)
  - analytical_memo (детальная справка)
  - warning_signals (список сигналов)
  - competitor_benchmarks (проекты)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Человекочитаемые артефакты: </a:t>
            </a:r>
            <a:r>
              <a:rPr sz="1050">
                <a:solidFill>
                  <a:srgbClr val="1E293B"/>
                </a:solidFill>
              </a:rPr>
              <a:t>Параллельно создаются analyst_digest.docx и early_warnings.xlsx для моментальной работы аналитика.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463040"/>
            <a:ext cx="3413455" cy="73152"/>
          </a:xfrm>
          <a:prstGeom prst="rect">
            <a:avLst/>
          </a:prstGeom>
          <a:solidFill>
            <a:srgbClr val="007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079C2"/>
                </a:solidFill>
              </a:rPr>
              <a:t>ТЕХНИЧЕСКАЯ РЕАЛИЗАЦИЯ</a:t>
            </a:r>
          </a:p>
          <a:p>
            <a:pPr>
              <a:spcBef>
                <a:spcPts val="300"/>
              </a:spcBef>
            </a:pPr>
            <a:r>
              <a:rPr sz="1800" b="1">
                <a:solidFill>
                  <a:srgbClr val="002D5A"/>
                </a:solidFill>
              </a:rPr>
              <a:t>Оркестрация в коде: Детерминированный граф состояний в LangGraph Studio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4748B"/>
                </a:solidFill>
              </a:rPr>
              <a:t>LangGraph обеспечивает полный контроль над переходами, памятью сессии и циклом самопроверки</a:t>
            </a:r>
          </a:p>
        </p:txBody>
      </p:sp>
      <p:pic>
        <p:nvPicPr>
          <p:cNvPr id="4" name="Picture 3" descr="langgraph_studio_r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463040"/>
            <a:ext cx="43278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/>
            <a:r>
              <a:rPr b="1" sz="1300">
                <a:solidFill>
                  <a:srgbClr val="002D5A"/>
                </a:solidFill>
              </a:rPr>
              <a:t>Преимущества графовой оркестрации LangGraph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Детерминированный StateGraph: </a:t>
            </a:r>
            <a:r>
              <a:rPr sz="1050">
                <a:solidFill>
                  <a:srgbClr val="1E293B"/>
                </a:solidFill>
              </a:rPr>
              <a:t>В отличие от хаотичных цепочек CrewAI/AutoGen, граф строго регламентирует порядок выполнения шагов.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Петля Reflexion (Критик): </a:t>
            </a:r>
            <a:r>
              <a:rPr sz="1050">
                <a:solidFill>
                  <a:srgbClr val="1E293B"/>
                </a:solidFill>
              </a:rPr>
              <a:t>Агент-Стратег циклически дорабатывает инициативу до тех пор, пока оценка риска не превысит 8.0/10.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Инспекция состояния (State Inspection): </a:t>
            </a:r>
            <a:r>
              <a:rPr sz="1050">
                <a:solidFill>
                  <a:srgbClr val="1E293B"/>
                </a:solidFill>
              </a:rPr>
              <a:t>Справа в окне отладки видна полная схема Pydantic JSON на каждом шаге исполнения графа.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Human-in-the-Loop: </a:t>
            </a:r>
            <a:r>
              <a:rPr sz="1050">
                <a:solidFill>
                  <a:srgbClr val="1E293B"/>
                </a:solidFill>
              </a:rPr>
              <a:t>Возможность приостановить выполнение графа для ручной валидации экспертом ДСИиУР перед отправкой презентации.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0" y="1463040"/>
            <a:ext cx="4327855" cy="73152"/>
          </a:xfrm>
          <a:prstGeom prst="rect">
            <a:avLst/>
          </a:prstGeom>
          <a:solidFill>
            <a:srgbClr val="007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079C2"/>
                </a:solidFill>
              </a:rPr>
              <a:t>ДЕТАЛИЗАЦИЯ: АГЕНТ 2</a:t>
            </a:r>
          </a:p>
          <a:p>
            <a:pPr>
              <a:spcBef>
                <a:spcPts val="300"/>
              </a:spcBef>
            </a:pPr>
            <a:r>
              <a:rPr sz="1800" b="1">
                <a:solidFill>
                  <a:srgbClr val="002D5A"/>
                </a:solidFill>
              </a:rPr>
              <a:t>Агент 2: Корпоративный Стратег — Синтез инициатив и модуль критики Reflexion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4748B"/>
                </a:solidFill>
              </a:rPr>
              <a:t>Трансформация сырой рыночной аналитики в сбалансированные стратегические инициативы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/>
            <a:r>
              <a:rPr b="1" sz="1300">
                <a:solidFill>
                  <a:srgbClr val="002D5A"/>
                </a:solidFill>
              </a:rPr>
              <a:t>1. Стратегические матрицы и пирамида Минто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Синтез рыночной фактуры: </a:t>
            </a:r>
            <a:r>
              <a:rPr sz="1050">
                <a:solidFill>
                  <a:srgbClr val="1E293B"/>
                </a:solidFill>
              </a:rPr>
              <a:t>Сопоставление данных Агента 1 с долгосрочными целями компании (горизонт 2026–2030 гг.).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Применение SWOT и PESTEL анализа: </a:t>
            </a:r>
            <a:r>
              <a:rPr sz="1050">
                <a:solidFill>
                  <a:srgbClr val="1E293B"/>
                </a:solidFill>
              </a:rPr>
              <a:t>Агент структурирует сильные и слабые стороны компании против рыночных возможностей и угроз макросреды.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Матрица Ансоффа: </a:t>
            </a:r>
            <a:r>
              <a:rPr sz="1050">
                <a:solidFill>
                  <a:srgbClr val="1E293B"/>
                </a:solidFill>
              </a:rPr>
              <a:t>Определение вектора развития: углубление текущих рынков vs запуск новых технологических цепочек.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Принцип Пирамиды Минто: </a:t>
            </a:r>
            <a:r>
              <a:rPr sz="1050">
                <a:solidFill>
                  <a:srgbClr val="1E293B"/>
                </a:solidFill>
              </a:rPr>
              <a:t>Главный вывод и тезис формируются первыми, затем приводятся логические аргументы и числовая фактура.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120640" cy="73152"/>
          </a:xfrm>
          <a:prstGeom prst="rect">
            <a:avLst/>
          </a:prstGeom>
          <a:solidFill>
            <a:srgbClr val="007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/>
            <a:r>
              <a:rPr b="1" sz="1300">
                <a:solidFill>
                  <a:srgbClr val="002D5A"/>
                </a:solidFill>
              </a:rPr>
              <a:t>2. Паттерн Reflexion (Generator-Critic)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Нода-Генератор: </a:t>
            </a:r>
            <a:r>
              <a:rPr sz="1050">
                <a:solidFill>
                  <a:srgbClr val="1E293B"/>
                </a:solidFill>
              </a:rPr>
              <a:t>Формулирует первичный черновик стратегической инициативы (например: 'Построить 15 собственных танкеров Arc7 до 2027 года').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Нода-Критик (Роль Риск-офицера): </a:t>
            </a:r>
            <a:r>
              <a:rPr sz="1050">
                <a:solidFill>
                  <a:srgbClr val="1E293B"/>
                </a:solidFill>
              </a:rPr>
              <a:t>Анализирует черновик на реализуемость. Вердикт: 'Сроки нереалистичны, верфи перегружены. Оценка: 5.2/10. Отклонено.'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Итеративная доработка: </a:t>
            </a:r>
            <a:r>
              <a:rPr sz="1050">
                <a:solidFill>
                  <a:srgbClr val="1E293B"/>
                </a:solidFill>
              </a:rPr>
              <a:t>Генератор правит инициативу с учетом замечаний Критика.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Валидированная инициатива (Оценка 8.8/10): </a:t>
            </a:r>
            <a:r>
              <a:rPr sz="1050">
                <a:solidFill>
                  <a:srgbClr val="1E293B"/>
                </a:solidFill>
              </a:rPr>
              <a:t>STRAT-04: Заключение долгосрочных тайм-чартеров на суда Arc4/Arc5 с ледокольной проводкой. Принято!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463040"/>
            <a:ext cx="5242255" cy="73152"/>
          </a:xfrm>
          <a:prstGeom prst="rect">
            <a:avLst/>
          </a:prstGeom>
          <a:solidFill>
            <a:srgbClr val="10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079C2"/>
                </a:solidFill>
              </a:rPr>
              <a:t>МЕТОДОЛОГИЯ РИСК-СКОРИНГА</a:t>
            </a:r>
          </a:p>
          <a:p>
            <a:pPr>
              <a:spcBef>
                <a:spcPts val="300"/>
              </a:spcBef>
            </a:pPr>
            <a:r>
              <a:rPr sz="1800" b="1">
                <a:solidFill>
                  <a:srgbClr val="002D5A"/>
                </a:solidFill>
              </a:rPr>
              <a:t>Нода Критики: Формирование рубрикатора и масштабирование на 100–1000 критериев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4748B"/>
                </a:solidFill>
              </a:rPr>
              <a:t>Иерархическая декомпозиция и параллельный Map-Reduce исключают деградацию логики нейросети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/>
            <a:r>
              <a:rPr b="1" sz="1300">
                <a:solidFill>
                  <a:srgbClr val="002D5A"/>
                </a:solidFill>
              </a:rPr>
              <a:t>Откуда берутся веса и правила оценки в MVP?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Установочная сессия с руководством ДСИиУР: </a:t>
            </a:r>
            <a:r>
              <a:rPr sz="1050">
                <a:solidFill>
                  <a:srgbClr val="1E293B"/>
                </a:solidFill>
              </a:rPr>
              <a:t>Веса не придумываются программистом. На старте задается вопрос: 'По каким 3–5 причинам комитет обычно бракует инициативы?'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4 базовых фактора нефтегазового сектора: </a:t>
            </a:r>
            <a:r>
              <a:rPr sz="1050">
                <a:solidFill>
                  <a:srgbClr val="1E293B"/>
                </a:solidFill>
              </a:rPr>
              <a:t>  1. Санкции и импортозамещение (вес 30%)
  2. Срок окупаемости и объем CAPEX (вес 30%)
  3. Технологическая зрелость TRL &gt;= 7 (вес 20%)
  4. Промбезопасность и экология ESG (вес 20%)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Формула взвешенного скоринга: </a:t>
            </a:r>
            <a:r>
              <a:rPr sz="1050">
                <a:solidFill>
                  <a:srgbClr val="1E293B"/>
                </a:solidFill>
              </a:rPr>
              <a:t>Total = 0.30*Санкции + 0.30*Окупаемость + 0.20*TRL + 0.20*Экология.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Порог прохода: &gt;= 8.0/10. </a:t>
            </a:r>
            <a:r>
              <a:rPr sz="1050">
                <a:solidFill>
                  <a:srgbClr val="1E293B"/>
                </a:solidFill>
              </a:rPr>
              <a:t>При балле &lt; 8.0 LangGraph возвращает инициативу Генератору.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120640" cy="73152"/>
          </a:xfrm>
          <a:prstGeom prst="rect">
            <a:avLst/>
          </a:prstGeom>
          <a:solidFill>
            <a:srgbClr val="007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/>
            <a:r>
              <a:rPr b="1" sz="1300">
                <a:solidFill>
                  <a:srgbClr val="002D5A"/>
                </a:solidFill>
              </a:rPr>
              <a:t>Масштабирование: Что делать при 100 или 1000 критериев?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Ошибка подачи 'в лоб': </a:t>
            </a:r>
            <a:r>
              <a:rPr sz="1050">
                <a:solidFill>
                  <a:srgbClr val="1E293B"/>
                </a:solidFill>
              </a:rPr>
              <a:t>Подача 1000 критериев в один промпт приводит к эффекту Lost in the Middle, галлюцинациям и потере критических условий.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1. Иерархическая группировка по 4 макро-блокам: </a:t>
            </a:r>
            <a:r>
              <a:rPr sz="1050">
                <a:solidFill>
                  <a:srgbClr val="1E293B"/>
                </a:solidFill>
              </a:rPr>
              <a:t>Финансы/CAPEX (40 критериев), Санкции/Импорт (50 критериев), Производство/Флот (40 критериев), Экология/ESG (30 критериев).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2. Параллельные под-ноды критиков (Map-Reduce): </a:t>
            </a:r>
            <a:r>
              <a:rPr sz="1050">
                <a:solidFill>
                  <a:srgbClr val="1E293B"/>
                </a:solidFill>
              </a:rPr>
              <a:t>4 независимых узла параллельно проверяют инициативу только по своему чеклисту.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3. Жесткие стоп-факторы (Red Flags): </a:t>
            </a:r>
            <a:r>
              <a:rPr sz="1050">
                <a:solidFill>
                  <a:srgbClr val="1E293B"/>
                </a:solidFill>
              </a:rPr>
              <a:t>При выявлении прямого санкционного запрета выставляется отсев (Score 0) без траты токенов на остальные 950 пунктов!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4. Детерминированная агрегация в коде: </a:t>
            </a:r>
            <a:r>
              <a:rPr sz="1050">
                <a:solidFill>
                  <a:srgbClr val="1E293B"/>
                </a:solidFill>
              </a:rPr>
              <a:t>Итоговый балл считается математической формулой в Python без сбоев LLM.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463040"/>
            <a:ext cx="524225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079C2"/>
                </a:solidFill>
              </a:rPr>
              <a:t>ПРАКТИЧЕСКИЙ РЕЗУЛЬТАТ: АГЕНТ 3</a:t>
            </a:r>
          </a:p>
          <a:p>
            <a:pPr>
              <a:spcBef>
                <a:spcPts val="300"/>
              </a:spcBef>
            </a:pPr>
            <a:r>
              <a:rPr sz="1800" b="1">
                <a:solidFill>
                  <a:srgbClr val="002D5A"/>
                </a:solidFill>
              </a:rPr>
              <a:t>Агент 3: Сборка презентаций — Реальный пример слайда для Департамента логистики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4748B"/>
                </a:solidFill>
              </a:rPr>
              <a:t>Автоматическая трансляция общекорпоративной цели в адресные KPI профильного подразделения</a:t>
            </a:r>
          </a:p>
        </p:txBody>
      </p:sp>
      <p:pic>
        <p:nvPicPr>
          <p:cNvPr id="4" name="Picture 3" descr="department_slide_r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463040"/>
            <a:ext cx="43278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/>
            <a:r>
              <a:rPr b="1" sz="1300">
                <a:solidFill>
                  <a:srgbClr val="002D5A"/>
                </a:solidFill>
              </a:rPr>
              <a:t>Разбор сгенерированного слайда презентации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Адресная адаптация под профиль отдела: </a:t>
            </a:r>
            <a:r>
              <a:rPr sz="1050">
                <a:solidFill>
                  <a:srgbClr val="1E293B"/>
                </a:solidFill>
              </a:rPr>
              <a:t>Общая стратегия STRAT-04 переведена на профессиональный язык Департамента логистики и морского транспорта.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Четкие целевые KPI подразделения: </a:t>
            </a:r>
            <a:r>
              <a:rPr sz="1050">
                <a:solidFill>
                  <a:srgbClr val="1E293B"/>
                </a:solidFill>
              </a:rPr>
              <a:t>Снижение ставки фрахта на -12%, рост утилизации флота Arc7 на +18%, рост доли экологичного СПГ-топлива.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Принцип Пирамиды Минто: </a:t>
            </a:r>
            <a:r>
              <a:rPr sz="1050">
                <a:solidFill>
                  <a:srgbClr val="1E293B"/>
                </a:solidFill>
              </a:rPr>
              <a:t>В заголовке вынесен главный управленческий вывод, ниже приведены аргументы и карта маршрутов СМП.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100% векторная сборка python-pptx: </a:t>
            </a:r>
            <a:r>
              <a:rPr sz="1050">
                <a:solidFill>
                  <a:srgbClr val="1E293B"/>
                </a:solidFill>
              </a:rPr>
              <a:t>Слайд собран по официальному мастер-шаблону. Все тексты, таблицы и цифры полностью редактируются руками.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0" y="1463040"/>
            <a:ext cx="4327855" cy="73152"/>
          </a:xfrm>
          <a:prstGeom prst="rect">
            <a:avLst/>
          </a:prstGeom>
          <a:solidFill>
            <a:srgbClr val="007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079C2"/>
                </a:solidFill>
              </a:rPr>
              <a:t>ИНЖЕНЕРНЫЕ КОНТРАКТЫ ДАННЫХ</a:t>
            </a:r>
          </a:p>
          <a:p>
            <a:pPr>
              <a:spcBef>
                <a:spcPts val="300"/>
              </a:spcBef>
            </a:pPr>
            <a:r>
              <a:rPr sz="1800" b="1">
                <a:solidFill>
                  <a:srgbClr val="002D5A"/>
                </a:solidFill>
              </a:rPr>
              <a:t>Контракты данных: Гарантия надежности связки через Pydantic v2 и Instructor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4748B"/>
                </a:solidFill>
              </a:rPr>
              <a:t>Строгая типизация исключает разрыв контекста и превращает агентов в надежный промышленный конвейер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/>
            <a:r>
              <a:rPr b="1" sz="1300">
                <a:solidFill>
                  <a:srgbClr val="002D5A"/>
                </a:solidFill>
              </a:rPr>
              <a:t>Почему передача сырого текста — архитектурный тупик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Проблема текстовых цепочек: </a:t>
            </a:r>
            <a:r>
              <a:rPr sz="1050">
                <a:solidFill>
                  <a:srgbClr val="1E293B"/>
                </a:solidFill>
              </a:rPr>
              <a:t>Когда агенты обмениваются неструктурированным текстом, накапливаются ошибки, плывут цифры и теряются факты.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Строгие Pydantic v2 схемы: </a:t>
            </a:r>
            <a:r>
              <a:rPr sz="1050">
                <a:solidFill>
                  <a:srgbClr val="1E293B"/>
                </a:solidFill>
              </a:rPr>
              <a:t>Все 3 агента связаны жесткими контрактами данных: AnalystOutput, StrategistOutput, DepartmentReport.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Библиотека Instructor: </a:t>
            </a:r>
            <a:r>
              <a:rPr sz="1050">
                <a:solidFill>
                  <a:srgbClr val="1E293B"/>
                </a:solidFill>
              </a:rPr>
              <a:t>Гарантирует, что модель вернет валидный JSON, строго соответствующий схеме, с автоматическим повтором при сбое.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Валидация типов 'на лету': </a:t>
            </a:r>
            <a:r>
              <a:rPr sz="1050">
                <a:solidFill>
                  <a:srgbClr val="1E293B"/>
                </a:solidFill>
              </a:rPr>
              <a:t>Каждое поле (сроки, ставки фрахта, уровень риска) проверяется компилятором Python перед передачей дальше.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120640" cy="73152"/>
          </a:xfrm>
          <a:prstGeom prst="rect">
            <a:avLst/>
          </a:prstGeom>
          <a:solidFill>
            <a:srgbClr val="007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/>
            <a:r>
              <a:rPr b="1" sz="1300">
                <a:solidFill>
                  <a:srgbClr val="002D5A"/>
                </a:solidFill>
              </a:rPr>
              <a:t>Архитектура Pydantic-контрактов в коде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Схема сигнала раннего предупреждения: </a:t>
            </a:r>
            <a:r>
              <a:rPr sz="1050">
                <a:solidFill>
                  <a:srgbClr val="1E293B"/>
                </a:solidFill>
              </a:rPr>
              <a:t>class EarlyWarningSignal(BaseModel):
    title: str = Field(description='Суть сигнала')
    severity: Literal['High', 'Medium', 'Low']
    impact_area: str = Field('Логистика / Бурение')
    evidence: str = Field('Цитата из источника')
    recommended_action: str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Схема стратегической инициативы: </a:t>
            </a:r>
            <a:r>
              <a:rPr sz="1050">
                <a:solidFill>
                  <a:srgbClr val="1E293B"/>
                </a:solidFill>
              </a:rPr>
              <a:t>class StrategicInitiative(BaseModel):
    initiative_id: str = Field('STRAT-04')
    title: str
    objective: str
    target_departments: List[str]
    kpis: Dict[str, str]
    mitigation_plan: str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463040"/>
            <a:ext cx="5242255" cy="73152"/>
          </a:xfrm>
          <a:prstGeom prst="rect">
            <a:avLst/>
          </a:prstGeom>
          <a:solidFill>
            <a:srgbClr val="007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079C2"/>
                </a:solidFill>
              </a:rPr>
              <a:t>АВТОНОМНОСТЬ И АРТЕФАКТЫ</a:t>
            </a:r>
          </a:p>
          <a:p>
            <a:pPr>
              <a:spcBef>
                <a:spcPts val="300"/>
              </a:spcBef>
            </a:pPr>
            <a:r>
              <a:rPr sz="1800" b="1">
                <a:solidFill>
                  <a:srgbClr val="002D5A"/>
                </a:solidFill>
              </a:rPr>
              <a:t>Человекочитаемые форматы на выходе: Готовые документы для работы аналитиков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4748B"/>
                </a:solidFill>
              </a:rPr>
              <a:t>Аналитики не работают с кодом JSON: каждый агент создает полноценные офисные файлы Word, HTML, Excel и PPTX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/>
            <a:r>
              <a:rPr b="1" sz="1300">
                <a:solidFill>
                  <a:srgbClr val="002D5A"/>
                </a:solidFill>
              </a:rPr>
              <a:t>Офисные артефакты для каждого агента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Агент 1 (Аналитик): </a:t>
            </a:r>
            <a:r>
              <a:rPr sz="1050">
                <a:solidFill>
                  <a:srgbClr val="1E293B"/>
                </a:solidFill>
              </a:rPr>
              <a:t>  1. analyst_digest.docx — сводный дайджест с таблицами
  2. market_memo.html — интерактивная веб-справка с ссылками
  3. early_warnings.xlsx — реестр сигналов для Excel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Агент 2 (Стратег): </a:t>
            </a:r>
            <a:r>
              <a:rPr sz="1050">
                <a:solidFill>
                  <a:srgbClr val="1E293B"/>
                </a:solidFill>
              </a:rPr>
              <a:t>  1. strategy_memo.docx — полный инвестиционный паспорт
  2. swot_matrix.html — наглядная SWOT-матрица
  3. critic_log.docx — протокол замечаний Ноды-Критика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Агент 3 (Презентатор): </a:t>
            </a:r>
            <a:r>
              <a:rPr sz="1050">
                <a:solidFill>
                  <a:srgbClr val="1E293B"/>
                </a:solidFill>
              </a:rPr>
              <a:t>  1. strategy_presentation.pptx — векторные слайды
  2. executive_briefing.pdf — распечатка для руководства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120640" cy="73152"/>
          </a:xfrm>
          <a:prstGeom prst="rect">
            <a:avLst/>
          </a:prstGeom>
          <a:solidFill>
            <a:srgbClr val="007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/>
            <a:r>
              <a:rPr b="1" sz="1300">
                <a:solidFill>
                  <a:srgbClr val="002D5A"/>
                </a:solidFill>
              </a:rPr>
              <a:t>Автономный режим работы (Standalone Mode)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Независимость компонентов: </a:t>
            </a:r>
            <a:r>
              <a:rPr sz="1050">
                <a:solidFill>
                  <a:srgbClr val="1E293B"/>
                </a:solidFill>
              </a:rPr>
              <a:t>Аналитик не обязан каждый раз запускать всю цепочку из 3 агентов!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Быстрый утренний мониторинг: </a:t>
            </a:r>
            <a:r>
              <a:rPr sz="1050">
                <a:solidFill>
                  <a:srgbClr val="1E293B"/>
                </a:solidFill>
              </a:rPr>
              <a:t>Нужна только сводка по ценам нефти и фрахту? Запуск Агента 1 -&gt; готовый дайджест Word через 40 секунд.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Оценка собственного отчета: </a:t>
            </a:r>
            <a:r>
              <a:rPr sz="1050">
                <a:solidFill>
                  <a:srgbClr val="1E293B"/>
                </a:solidFill>
              </a:rPr>
              <a:t>Есть сторонний PDF-документ? Загрузка в Агента 2 -&gt; оценка рисков и протокол замечаний Критика.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Сборка презентации под другой отдел: </a:t>
            </a:r>
            <a:r>
              <a:rPr sz="1050">
                <a:solidFill>
                  <a:srgbClr val="1E293B"/>
                </a:solidFill>
              </a:rPr>
              <a:t>Запуск Агента 3 с указанием другого профиля YAML (например, Бурение вместо Логистики).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Полная свобода сотрудника: </a:t>
            </a:r>
            <a:r>
              <a:rPr sz="1050">
                <a:solidFill>
                  <a:srgbClr val="1E293B"/>
                </a:solidFill>
              </a:rPr>
              <a:t>Агент выступает персональным цифровым ассистентом под конкретную задачу дня.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463040"/>
            <a:ext cx="5242255" cy="73152"/>
          </a:xfrm>
          <a:prstGeom prst="rect">
            <a:avLst/>
          </a:prstGeom>
          <a:solidFill>
            <a:srgbClr val="10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079C2"/>
                </a:solidFill>
              </a:rPr>
              <a:t>КОНСОЛЬ И УПРАВЛЕНИЕ</a:t>
            </a:r>
          </a:p>
          <a:p>
            <a:pPr>
              <a:spcBef>
                <a:spcPts val="300"/>
              </a:spcBef>
            </a:pPr>
            <a:r>
              <a:rPr sz="1800" b="1">
                <a:solidFill>
                  <a:srgbClr val="002D5A"/>
                </a:solidFill>
              </a:rPr>
              <a:t>Рабочее место аналитика: Управление через Windows CLI и каталог готовых файлов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4748B"/>
                </a:solidFill>
              </a:rPr>
              <a:t>Удобные консольные команды запуска и автоматическое сохранение артефактов в локальную папку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/>
            <a:r>
              <a:rPr b="1" sz="1300">
                <a:solidFill>
                  <a:srgbClr val="002D5A"/>
                </a:solidFill>
              </a:rPr>
              <a:t>Консольные команды в C:\Users\Lavrentiy\Desktop\газпром&gt;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Активация рабочего окружения: </a:t>
            </a:r>
            <a:r>
              <a:rPr sz="1050">
                <a:solidFill>
                  <a:srgbClr val="1E293B"/>
                </a:solidFill>
              </a:rPr>
              <a:t>cd C:\Users\Lavrentiy\Desktop\газпром
.\venv\Scripts\activate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Запуск полного сквозного цикла (3 агента): </a:t>
            </a:r>
            <a:r>
              <a:rPr sz="1050">
                <a:solidFill>
                  <a:srgbClr val="1E293B"/>
                </a:solidFill>
              </a:rPr>
              <a:t>python run_pipeline.py --topic 'Арктическая логистика СМП'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Автономный запуск мониторинга (Агент 1): </a:t>
            </a:r>
            <a:r>
              <a:rPr sz="1050">
                <a:solidFill>
                  <a:srgbClr val="1E293B"/>
                </a:solidFill>
              </a:rPr>
              <a:t>python run_agent1_analyst.py --query 'Цены СПГ' --export docx,html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Оценка своей гипотезы / отчета (Агент 2): </a:t>
            </a:r>
            <a:r>
              <a:rPr sz="1050">
                <a:solidFill>
                  <a:srgbClr val="1E293B"/>
                </a:solidFill>
              </a:rPr>
              <a:t>python run_agent2_strategist.py --input-file custom.pdf --export docx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Сборка презентации под отдел (Агент 3): </a:t>
            </a:r>
            <a:r>
              <a:rPr sz="1050">
                <a:solidFill>
                  <a:srgbClr val="1E293B"/>
                </a:solidFill>
              </a:rPr>
              <a:t>python run_agent3_presenter.py --department logistics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120640" cy="73152"/>
          </a:xfrm>
          <a:prstGeom prst="rect">
            <a:avLst/>
          </a:prstGeom>
          <a:solidFill>
            <a:srgbClr val="007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/>
            <a:r>
              <a:rPr b="1" sz="1300">
                <a:solidFill>
                  <a:srgbClr val="002D5A"/>
                </a:solidFill>
              </a:rPr>
              <a:t>Каталог готовых результатов: папка output/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Структура локального каталога output/: </a:t>
            </a:r>
            <a:r>
              <a:rPr sz="1050">
                <a:solidFill>
                  <a:srgbClr val="1E293B"/>
                </a:solidFill>
              </a:rPr>
              <a:t>C:\Users\Lavrentiy\Desktop\газпром\output\
├── analyst_digest.docx         &lt;-- Дайджест Word
├── market_memo.html            &lt;-- Веб-справка в браузере
├── early_warnings.xlsx         &lt;-- Реестр для Excel
├── strategy_memo.docx          &lt;-- Инвест-паспорт Word
└── strategy_presentation.pptx  &lt;-- Презентация PowerPoint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Мгновенное открытие файлов из консоли: </a:t>
            </a:r>
            <a:r>
              <a:rPr sz="1050">
                <a:solidFill>
                  <a:srgbClr val="1E293B"/>
                </a:solidFill>
              </a:rPr>
              <a:t>start output\strategy_presentation.pptx
start output\analyst_digest.docx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Полная интеграция с Windows: </a:t>
            </a:r>
            <a:r>
              <a:rPr sz="1050">
                <a:solidFill>
                  <a:srgbClr val="1E293B"/>
                </a:solidFill>
              </a:rPr>
              <a:t>Файлы открываются стандартным двойным кликом в Microsoft Office.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463040"/>
            <a:ext cx="5242255" cy="73152"/>
          </a:xfrm>
          <a:prstGeom prst="rect">
            <a:avLst/>
          </a:prstGeom>
          <a:solidFill>
            <a:srgbClr val="007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079C2"/>
                </a:solidFill>
              </a:rPr>
              <a:t>ТЕХНОЛОГИЧЕСКИЙ СТЕК</a:t>
            </a:r>
          </a:p>
          <a:p>
            <a:pPr>
              <a:spcBef>
                <a:spcPts val="300"/>
              </a:spcBef>
            </a:pPr>
            <a:r>
              <a:rPr sz="1800" b="1">
                <a:solidFill>
                  <a:srgbClr val="002D5A"/>
                </a:solidFill>
              </a:rPr>
              <a:t>Технологический стек платформы: Обоснование выбора и отсутствие лишних затрат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4748B"/>
                </a:solidFill>
              </a:rPr>
              <a:t>Сбалансированная архитектура: надежная оркестрация, бесплатный поиск и отсутствие привязки к вендору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/>
            <a:r>
              <a:rPr b="1" sz="1300">
                <a:solidFill>
                  <a:srgbClr val="002D5A"/>
                </a:solidFill>
              </a:rPr>
              <a:t>1. Оркестрация и контракты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LangGraph (LangChain AI): </a:t>
            </a:r>
            <a:r>
              <a:rPr sz="1050">
                <a:solidFill>
                  <a:srgbClr val="1E293B"/>
                </a:solidFill>
              </a:rPr>
              <a:t>Построение детерминированных графов, циклы Reflexion, управление памятью и Human-in-the-Loop.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Pydantic v2 + Instructor: </a:t>
            </a:r>
            <a:r>
              <a:rPr sz="1050">
                <a:solidFill>
                  <a:srgbClr val="1E293B"/>
                </a:solidFill>
              </a:rPr>
              <a:t>Строгая валидация типов, гарантия получения валидного JSON от моделей без поломки пайплайна.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Без лишних оберток: </a:t>
            </a:r>
            <a:r>
              <a:rPr sz="1050">
                <a:solidFill>
                  <a:srgbClr val="1E293B"/>
                </a:solidFill>
              </a:rPr>
              <a:t>Отказ от нестабильных надстроек CrewAI/AutoGen в пользу полного контроля логики.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291840" cy="73152"/>
          </a:xfrm>
          <a:prstGeom prst="rect">
            <a:avLst/>
          </a:prstGeom>
          <a:solidFill>
            <a:srgbClr val="007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/>
            <a:r>
              <a:rPr b="1" sz="1300">
                <a:solidFill>
                  <a:srgbClr val="002D5A"/>
                </a:solidFill>
              </a:rPr>
              <a:t>2. Данные и бесплатный поиск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duckduckgo-search (Python): </a:t>
            </a:r>
            <a:r>
              <a:rPr sz="1050">
                <a:solidFill>
                  <a:srgbClr val="1E293B"/>
                </a:solidFill>
              </a:rPr>
              <a:t>Бесплатный веб-поиск новостей и котировок ТЭК. 0 рублей затрат, без API-ключей и кредитных карт.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Docling (IBM) / Marker: </a:t>
            </a:r>
            <a:r>
              <a:rPr sz="1050">
                <a:solidFill>
                  <a:srgbClr val="1E293B"/>
                </a:solidFill>
              </a:rPr>
              <a:t>Интеллектуальный парсинг сложных отраслевых PDF с сохранением таблиц в Markdown.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Qdrant / ChromaDB: </a:t>
            </a:r>
            <a:r>
              <a:rPr sz="1050">
                <a:solidFill>
                  <a:srgbClr val="1E293B"/>
                </a:solidFill>
              </a:rPr>
              <a:t>Локальное векторное хранилище в Docker, обеспечивающее мгновенный перенос в прод.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463040"/>
            <a:ext cx="3291840" cy="73152"/>
          </a:xfrm>
          <a:prstGeom prst="rect">
            <a:avLst/>
          </a:prstGeom>
          <a:solidFill>
            <a:srgbClr val="10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4134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/>
            <a:r>
              <a:rPr b="1" sz="1300">
                <a:solidFill>
                  <a:srgbClr val="002D5A"/>
                </a:solidFill>
              </a:rPr>
              <a:t>3. Слой LLM и генерация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Model-Agnostic архитектура: </a:t>
            </a:r>
            <a:r>
              <a:rPr sz="1050">
                <a:solidFill>
                  <a:srgbClr val="1E293B"/>
                </a:solidFill>
              </a:rPr>
              <a:t>Использование единого OpenAI-совместимого протокола. Переход на On-Prem vLLM сменой 1 строчки в .env.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python-pptx: </a:t>
            </a:r>
            <a:r>
              <a:rPr sz="1050">
                <a:solidFill>
                  <a:srgbClr val="1E293B"/>
                </a:solidFill>
              </a:rPr>
              <a:t>Программное наполнение официального корпоративного мастер-шаблона PowerPoint векторными фигурами.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Streamlit UI: </a:t>
            </a:r>
            <a:r>
              <a:rPr sz="1050">
                <a:solidFill>
                  <a:srgbClr val="1E293B"/>
                </a:solidFill>
              </a:rPr>
              <a:t>Быстрое создание интерактивного веб-дашборда для демонстрации руководству компании.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463040"/>
            <a:ext cx="3413455" cy="73152"/>
          </a:xfrm>
          <a:prstGeom prst="rect">
            <a:avLst/>
          </a:prstGeom>
          <a:solidFill>
            <a:srgbClr val="007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079C2"/>
                </a:solidFill>
              </a:rPr>
              <a:t>БЕЗОПАСНОСТЬ И ВНЕДРЕНИЕ</a:t>
            </a:r>
          </a:p>
          <a:p>
            <a:pPr>
              <a:spcBef>
                <a:spcPts val="300"/>
              </a:spcBef>
            </a:pPr>
            <a:r>
              <a:rPr sz="1800" b="1">
                <a:solidFill>
                  <a:srgbClr val="002D5A"/>
                </a:solidFill>
              </a:rPr>
              <a:t>Безопасность и On-Premise: Разделение контуров и перенос на серверы компании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4748B"/>
                </a:solidFill>
              </a:rPr>
              <a:t>Быстрый R&amp;D на открытых данных с архитектурной гарантией бесшовного переноса в закрытый контур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/>
            <a:r>
              <a:rPr b="1" sz="1300">
                <a:solidFill>
                  <a:srgbClr val="002D5A"/>
                </a:solidFill>
              </a:rPr>
              <a:t>Фаза 1: Внешний контур (PoC Сентябрь–Декабрь)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100% открытые и синтетические данные: </a:t>
            </a:r>
            <a:r>
              <a:rPr sz="1050">
                <a:solidFill>
                  <a:srgbClr val="1E293B"/>
                </a:solidFill>
              </a:rPr>
              <a:t>В облачные API передаются только публичные новости, котировки бирж и смоделированные кейсы.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Нулевой риск для коммерческой тайны: </a:t>
            </a:r>
            <a:r>
              <a:rPr sz="1050">
                <a:solidFill>
                  <a:srgbClr val="1E293B"/>
                </a:solidFill>
              </a:rPr>
              <a:t>Конфиденциальные внутренние данные компании физически не попадают во внешний интернет.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Максимальная скорость разработки: </a:t>
            </a:r>
            <a:r>
              <a:rPr sz="1050">
                <a:solidFill>
                  <a:srgbClr val="1E293B"/>
                </a:solidFill>
              </a:rPr>
              <a:t>Запуск проекта и демонстрация ценности без многомесячных согласований со службой безопасности компании.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Изоляция кода: </a:t>
            </a:r>
            <a:r>
              <a:rPr sz="1050">
                <a:solidFill>
                  <a:srgbClr val="1E293B"/>
                </a:solidFill>
              </a:rPr>
              <a:t>Кодовая база не содержит хардкода адресов облачных провайдеров.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120640" cy="73152"/>
          </a:xfrm>
          <a:prstGeom prst="rect">
            <a:avLst/>
          </a:prstGeom>
          <a:solidFill>
            <a:srgbClr val="007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/>
            <a:r>
              <a:rPr b="1" sz="1300">
                <a:solidFill>
                  <a:srgbClr val="002D5A"/>
                </a:solidFill>
              </a:rPr>
              <a:t>Фаза 2: Перенос во внутренний контур (On-Premise)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Model-Agnostic архитектура: </a:t>
            </a:r>
            <a:r>
              <a:rPr sz="1050">
                <a:solidFill>
                  <a:srgbClr val="1E293B"/>
                </a:solidFill>
              </a:rPr>
              <a:t>Кодовая база изначально готова к работе с локальными моделями через OpenAI-совместимый протокол.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Локальные LLM на серверах компании: </a:t>
            </a:r>
            <a:r>
              <a:rPr sz="1050">
                <a:solidFill>
                  <a:srgbClr val="1E293B"/>
                </a:solidFill>
              </a:rPr>
              <a:t>Развертывание открытых моделей Qwen 2.5 (32B/72B) или DeepSeek-V3 на внутренних GPU через сервер vLLM.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Переключение за 1 минуту: </a:t>
            </a:r>
            <a:r>
              <a:rPr sz="1050">
                <a:solidFill>
                  <a:srgbClr val="1E293B"/>
                </a:solidFill>
              </a:rPr>
              <a:t>В файле .env меняется одна строка: LLM_BASE_URL='http://vllm-cluster.corp:8000/v1' без изменения кода агентов.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Полная автономность: </a:t>
            </a:r>
            <a:r>
              <a:rPr sz="1050">
                <a:solidFill>
                  <a:srgbClr val="1E293B"/>
                </a:solidFill>
              </a:rPr>
              <a:t>Система работает внутри изолированного контура компании без выхода во внешнюю сеть.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463040"/>
            <a:ext cx="5242255" cy="73152"/>
          </a:xfrm>
          <a:prstGeom prst="rect">
            <a:avLst/>
          </a:prstGeom>
          <a:solidFill>
            <a:srgbClr val="10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079C2"/>
                </a:solidFill>
              </a:rPr>
              <a:t>ОЦЕНКА И ТЕСТИРОВАНИЕ</a:t>
            </a:r>
          </a:p>
          <a:p>
            <a:pPr>
              <a:spcBef>
                <a:spcPts val="300"/>
              </a:spcBef>
            </a:pPr>
            <a:r>
              <a:rPr sz="1800" b="1">
                <a:solidFill>
                  <a:srgbClr val="002D5A"/>
                </a:solidFill>
              </a:rPr>
              <a:t>Система метрик и контроль галлюцинаций: От алгоритмов Ragas до бизнес-эффекта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4748B"/>
                </a:solidFill>
              </a:rPr>
              <a:t>Многоуровневый контроль исключает выдуманные факты и гарантирует высокую ценность инициатив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/>
            <a:r>
              <a:rPr b="1" sz="1300">
                <a:solidFill>
                  <a:srgbClr val="002D5A"/>
                </a:solidFill>
              </a:rPr>
              <a:t>Метрики качества RAG (Ragas Framework)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Faithfulness (&gt; 0.95) — Фактологическая верность: </a:t>
            </a:r>
            <a:r>
              <a:rPr sz="1050">
                <a:solidFill>
                  <a:srgbClr val="1E293B"/>
                </a:solidFill>
              </a:rPr>
              <a:t>Процент утверждений в справке, строго подтвержденных цитатами первоисточников. Исключает галлюцинации.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Answer Relevancy (&gt; 0.90) — Релевантность ответа: </a:t>
            </a:r>
            <a:r>
              <a:rPr sz="1050">
                <a:solidFill>
                  <a:srgbClr val="1E293B"/>
                </a:solidFill>
              </a:rPr>
              <a:t>Семантическое соответствие справки поставленному бизнес-вопросу без ухода в абстракции.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Context Precision (&gt; 0.85) — Точность контекста: </a:t>
            </a:r>
            <a:r>
              <a:rPr sz="1050">
                <a:solidFill>
                  <a:srgbClr val="1E293B"/>
                </a:solidFill>
              </a:rPr>
              <a:t>Доля полезных чанков среди всех переданных в модель, отсеивающая информационный шум.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Автоматическое тестирование: </a:t>
            </a:r>
            <a:r>
              <a:rPr sz="1050">
                <a:solidFill>
                  <a:srgbClr val="1E293B"/>
                </a:solidFill>
              </a:rPr>
              <a:t>Регулярный прогон тестов на синтетических бенчмарках при каждом обновлении промптов.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120640" cy="73152"/>
          </a:xfrm>
          <a:prstGeom prst="rect">
            <a:avLst/>
          </a:prstGeom>
          <a:solidFill>
            <a:srgbClr val="007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/>
            <a:r>
              <a:rPr b="1" sz="1300">
                <a:solidFill>
                  <a:srgbClr val="002D5A"/>
                </a:solidFill>
              </a:rPr>
              <a:t>Бизнес-метрики и пирамида тестирования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Actionability Score: </a:t>
            </a:r>
            <a:r>
              <a:rPr sz="1050">
                <a:solidFill>
                  <a:srgbClr val="1E293B"/>
                </a:solidFill>
              </a:rPr>
              <a:t>Оценка конкретности шагов: наличие ответственного подразделения, сроков реализации и целевых числовых KPI.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Adoption Rate (Коэффициент принятия): </a:t>
            </a:r>
            <a:r>
              <a:rPr sz="1050">
                <a:solidFill>
                  <a:srgbClr val="1E293B"/>
                </a:solidFill>
              </a:rPr>
              <a:t>Доля сгенерированных тезисов, принятых экспертами ДСИиУР без ручной переделки.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Пирамида тестирования агентных систем: </a:t>
            </a:r>
            <a:r>
              <a:rPr sz="1050">
                <a:solidFill>
                  <a:srgbClr val="1E293B"/>
                </a:solidFill>
              </a:rPr>
              <a:t>  1. Unit-тесты контрактов Pydantic (типы и парсинг)
  2. Интеграционные тесты переходов графа в LangGraph
  3. LLM-as-a-Judge (автоматический скоринг синтетики)
  4. Human Evaluation (ежемесячная калибровка экспертами)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463040"/>
            <a:ext cx="5242255" cy="73152"/>
          </a:xfrm>
          <a:prstGeom prst="rect">
            <a:avLst/>
          </a:prstGeom>
          <a:solidFill>
            <a:srgbClr val="007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079C2"/>
                </a:solidFill>
              </a:rPr>
              <a:t>ПЛАН РЕАЛИЗАЦИИ</a:t>
            </a:r>
          </a:p>
          <a:p>
            <a:pPr>
              <a:spcBef>
                <a:spcPts val="300"/>
              </a:spcBef>
            </a:pPr>
            <a:r>
              <a:rPr sz="1800" b="1">
                <a:solidFill>
                  <a:srgbClr val="002D5A"/>
                </a:solidFill>
              </a:rPr>
              <a:t>Дорожная карта реализации проекта: 4 последовательных спринта (Сентябрь – Декабрь)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4748B"/>
                </a:solidFill>
              </a:rPr>
              <a:t>Поэтапный ввод агентов в эксплуатацию с регулярной демонстрацией промежуточных результатов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/>
            <a:r>
              <a:rPr b="1" sz="1300">
                <a:solidFill>
                  <a:srgbClr val="002D5A"/>
                </a:solidFill>
              </a:rPr>
              <a:t>Сентябрь: Агент 1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Развертывание стенда: </a:t>
            </a:r>
            <a:r>
              <a:rPr sz="1050">
                <a:solidFill>
                  <a:srgbClr val="1E293B"/>
                </a:solidFill>
              </a:rPr>
              <a:t>Настройка среды Python и векторной базы Qdrant.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Бесплатный веб-поиск: </a:t>
            </a:r>
            <a:r>
              <a:rPr sz="1050">
                <a:solidFill>
                  <a:srgbClr val="1E293B"/>
                </a:solidFill>
              </a:rPr>
              <a:t>Интеграция библиотеки duckduckgo-search.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Парсинг отчетов ТЭК: </a:t>
            </a:r>
            <a:r>
              <a:rPr sz="1050">
                <a:solidFill>
                  <a:srgbClr val="1E293B"/>
                </a:solidFill>
              </a:rPr>
              <a:t>Настройка Docling для таблиц PDF.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Детектор Early Warnings: </a:t>
            </a:r>
            <a:r>
              <a:rPr sz="1050">
                <a:solidFill>
                  <a:srgbClr val="1E293B"/>
                </a:solidFill>
              </a:rPr>
              <a:t>Алгоритм выявления скрытых рисков.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Тесты на открытых данных: </a:t>
            </a:r>
            <a:r>
              <a:rPr sz="1050">
                <a:solidFill>
                  <a:srgbClr val="1E293B"/>
                </a:solidFill>
              </a:rPr>
              <a:t>Валидация точности справки.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2468880" cy="73152"/>
          </a:xfrm>
          <a:prstGeom prst="rect">
            <a:avLst/>
          </a:prstGeom>
          <a:solidFill>
            <a:srgbClr val="007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29000" y="1463040"/>
            <a:ext cx="24688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/>
            <a:r>
              <a:rPr b="1" sz="1300">
                <a:solidFill>
                  <a:srgbClr val="002D5A"/>
                </a:solidFill>
              </a:rPr>
              <a:t>Октябрь: Агент 2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Разработка Стратега: </a:t>
            </a:r>
            <a:r>
              <a:rPr sz="1050">
                <a:solidFill>
                  <a:srgbClr val="1E293B"/>
                </a:solidFill>
              </a:rPr>
              <a:t>Промпты SWOT, PESTEL и пирамиды Минто.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Контур Reflexion: </a:t>
            </a:r>
            <a:r>
              <a:rPr sz="1050">
                <a:solidFill>
                  <a:srgbClr val="1E293B"/>
                </a:solidFill>
              </a:rPr>
              <a:t>Создание Ноды-Критика в LangGraph.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Калибровка весов: </a:t>
            </a:r>
            <a:r>
              <a:rPr sz="1050">
                <a:solidFill>
                  <a:srgbClr val="1E293B"/>
                </a:solidFill>
              </a:rPr>
              <a:t>Настройка 4 базовых критериев оценки.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Генератор инициатив: </a:t>
            </a:r>
            <a:r>
              <a:rPr sz="1050">
                <a:solidFill>
                  <a:srgbClr val="1E293B"/>
                </a:solidFill>
              </a:rPr>
              <a:t>Автоматический драфт паспортов проектов.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Устранение утопий: </a:t>
            </a:r>
            <a:r>
              <a:rPr sz="1050">
                <a:solidFill>
                  <a:srgbClr val="1E293B"/>
                </a:solidFill>
              </a:rPr>
              <a:t>Отсев нереалистичных гипотез.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1463040"/>
            <a:ext cx="2468880" cy="73152"/>
          </a:xfrm>
          <a:prstGeom prst="rect">
            <a:avLst/>
          </a:prstGeom>
          <a:solidFill>
            <a:srgbClr val="007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24688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/>
            <a:r>
              <a:rPr b="1" sz="1300">
                <a:solidFill>
                  <a:srgbClr val="002D5A"/>
                </a:solidFill>
              </a:rPr>
              <a:t>Ноябрь: Агент 3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Профили отделов: </a:t>
            </a:r>
            <a:r>
              <a:rPr sz="1050">
                <a:solidFill>
                  <a:srgbClr val="1E293B"/>
                </a:solidFill>
              </a:rPr>
              <a:t>Каталог YAML для Бурения, Логистики и ИТ.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Модуль python-pptx: </a:t>
            </a:r>
            <a:r>
              <a:rPr sz="1050">
                <a:solidFill>
                  <a:srgbClr val="1E293B"/>
                </a:solidFill>
              </a:rPr>
              <a:t>Скрипт сборки слайдов по мастер-шаблону.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Авто-каскадирование: </a:t>
            </a:r>
            <a:r>
              <a:rPr sz="1050">
                <a:solidFill>
                  <a:srgbClr val="1E293B"/>
                </a:solidFill>
              </a:rPr>
              <a:t>Трансляция целей стратегии в KPI отделов.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Тестирование верстки: </a:t>
            </a:r>
            <a:r>
              <a:rPr sz="1050">
                <a:solidFill>
                  <a:srgbClr val="1E293B"/>
                </a:solidFill>
              </a:rPr>
              <a:t>Проверка шрифтов, цветов и отступов.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Экспорт артефактов: </a:t>
            </a:r>
            <a:r>
              <a:rPr sz="1050">
                <a:solidFill>
                  <a:srgbClr val="1E293B"/>
                </a:solidFill>
              </a:rPr>
              <a:t>Генерация Word, HTML и PPTX.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463040"/>
            <a:ext cx="2468880" cy="73152"/>
          </a:xfrm>
          <a:prstGeom prst="rect">
            <a:avLst/>
          </a:prstGeom>
          <a:solidFill>
            <a:srgbClr val="007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23960" y="1463040"/>
            <a:ext cx="263621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/>
            <a:r>
              <a:rPr b="1" sz="1300">
                <a:solidFill>
                  <a:srgbClr val="002D5A"/>
                </a:solidFill>
              </a:rPr>
              <a:t>Декабрь: Финал и Демо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Интеграция дашборда: </a:t>
            </a:r>
            <a:r>
              <a:rPr sz="1050">
                <a:solidFill>
                  <a:srgbClr val="1E293B"/>
                </a:solidFill>
              </a:rPr>
              <a:t>Веб-интерфейс Streamlit для руководства.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Сквозное демо (E2E): </a:t>
            </a:r>
            <a:r>
              <a:rPr sz="1050">
                <a:solidFill>
                  <a:srgbClr val="1E293B"/>
                </a:solidFill>
              </a:rPr>
              <a:t>Запуск полного конвейера перед C-level.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Методология для ДО: </a:t>
            </a:r>
            <a:r>
              <a:rPr sz="1050">
                <a:solidFill>
                  <a:srgbClr val="1E293B"/>
                </a:solidFill>
              </a:rPr>
              <a:t>Регламент тиражирования на дочерние общества.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План On-Premise: </a:t>
            </a:r>
            <a:r>
              <a:rPr sz="1050">
                <a:solidFill>
                  <a:srgbClr val="1E293B"/>
                </a:solidFill>
              </a:rPr>
              <a:t>Пакет документации для ИБ и MLOps.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Защита результатов: </a:t>
            </a:r>
            <a:r>
              <a:rPr sz="1050">
                <a:solidFill>
                  <a:srgbClr val="1E293B"/>
                </a:solidFill>
              </a:rPr>
              <a:t>Подведение итогов пилотного этапа.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23960" y="1463040"/>
            <a:ext cx="2636215" cy="73152"/>
          </a:xfrm>
          <a:prstGeom prst="rect">
            <a:avLst/>
          </a:prstGeom>
          <a:solidFill>
            <a:srgbClr val="10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079C2"/>
                </a:solidFill>
              </a:rPr>
              <a:t>РЕСУРСЫ И СТАРТ</a:t>
            </a:r>
          </a:p>
          <a:p>
            <a:pPr>
              <a:spcBef>
                <a:spcPts val="300"/>
              </a:spcBef>
            </a:pPr>
            <a:r>
              <a:rPr sz="1800" b="1">
                <a:solidFill>
                  <a:srgbClr val="002D5A"/>
                </a:solidFill>
              </a:rPr>
              <a:t>Чек-лист для старта проекта: 6 ключевых запросов к команде ДСИиУР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4748B"/>
                </a:solidFill>
              </a:rPr>
              <a:t>Исчерпывающий перечень вводных данных, необходимых для успешного запуска разработки на установочной сессии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/>
            <a:r>
              <a:rPr b="1" sz="1300">
                <a:solidFill>
                  <a:srgbClr val="002D5A"/>
                </a:solidFill>
              </a:rPr>
              <a:t>1. Материалы, шаблоны и пилотные отделы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1. 2–3 эталонных аналитических отчета (PDF/DOCX): </a:t>
            </a:r>
            <a:r>
              <a:rPr sz="1050">
                <a:solidFill>
                  <a:srgbClr val="1E293B"/>
                </a:solidFill>
              </a:rPr>
              <a:t>Обезличенные исторические дайджесты ДСИиУР, признанные 'золотым стандартом' структуры, глубины и стиля.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2. Официальный мастер-шаблон презентаций (.pptx): </a:t>
            </a:r>
            <a:r>
              <a:rPr sz="1050">
                <a:solidFill>
                  <a:srgbClr val="1E293B"/>
                </a:solidFill>
              </a:rPr>
              <a:t>Файл со стандартной сеткой, фирменными шрифтами, цветовой палитрой и мастер-слайдами 'Газпром нефти'.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3. Пилотные департаменты и контакты экспертов: </a:t>
            </a:r>
            <a:r>
              <a:rPr sz="1050">
                <a:solidFill>
                  <a:srgbClr val="1E293B"/>
                </a:solidFill>
              </a:rPr>
              <a:t>  - 2–3 пилотных блока: Бурение, Логистика, ИТ
  - 30-минутные установочные интервью с аналитиками для сбора профессионального сленга и терминов
  - Примеры их локальных регламентов, ключевых KPI (проходка, ставка фрахта, uptime) и типовых слайдов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120640" cy="73152"/>
          </a:xfrm>
          <a:prstGeom prst="rect">
            <a:avLst/>
          </a:prstGeom>
          <a:solidFill>
            <a:srgbClr val="007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/>
            <a:r>
              <a:rPr b="1" sz="1300">
                <a:solidFill>
                  <a:srgbClr val="002D5A"/>
                </a:solidFill>
              </a:rPr>
              <a:t>2. Источники, доступы и критерии оценки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4. Перечень приоритетных открытых источников: </a:t>
            </a:r>
            <a:r>
              <a:rPr sz="1050">
                <a:solidFill>
                  <a:srgbClr val="1E293B"/>
                </a:solidFill>
              </a:rPr>
              <a:t>Отраслевые порталы, сайты министерств (Минэнерго, Минпромторг), агентства (Интерфакс-ТЭК, Cbonds, Neftegaz.ru), за которыми команда следит регулярно.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5. Лимиты на API-ключи ТОЛЬКО для языковых моделей: </a:t>
            </a:r>
            <a:r>
              <a:rPr sz="1050">
                <a:solidFill>
                  <a:srgbClr val="1E293B"/>
                </a:solidFill>
              </a:rPr>
              <a:t>  - Бюджет только на вызовы LLM (Claude 3.5 Sonnet / GPT-4o)
  - 0 рублей расходов на платные поисковики, так как поиск работает на бесплатной библиотеке duckduckgo-search
  - Тестовая виртуальная машина для развертывания стенда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6. Критерии Инвестиционного комитета компании: </a:t>
            </a:r>
            <a:r>
              <a:rPr sz="1050">
                <a:solidFill>
                  <a:srgbClr val="1E293B"/>
                </a:solidFill>
              </a:rPr>
              <a:t>Список 3–5 ключевых причин отклонения проектов (для точной калибровки весов и порогов в Ноде-Критике Агента 2).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463040"/>
            <a:ext cx="5242255" cy="73152"/>
          </a:xfrm>
          <a:prstGeom prst="rect">
            <a:avLst/>
          </a:prstGeom>
          <a:solidFill>
            <a:srgbClr val="10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079C2"/>
                </a:solidFill>
              </a:rPr>
              <a:t>РАЗВИТИЕ СИСТЕМЫ ПОСЛЕ ДЕКАБРЯ</a:t>
            </a:r>
          </a:p>
          <a:p>
            <a:pPr>
              <a:spcBef>
                <a:spcPts val="300"/>
              </a:spcBef>
            </a:pPr>
            <a:r>
              <a:rPr sz="1800" b="1">
                <a:solidFill>
                  <a:srgbClr val="002D5A"/>
                </a:solidFill>
              </a:rPr>
              <a:t>План доработки и масштабирования каждого агента после декабря (Roadmap 2026+)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4748B"/>
                </a:solidFill>
              </a:rPr>
              <a:t>Переход от пилотного PoC к полнофункциональной промышленной платформе стратегического управления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/>
            <a:r>
              <a:rPr b="1" sz="1300">
                <a:solidFill>
                  <a:srgbClr val="002D5A"/>
                </a:solidFill>
              </a:rPr>
              <a:t>Агент 1: Аналитик 2026+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24/7 Онлайн-демон (CRON): </a:t>
            </a:r>
            <a:r>
              <a:rPr sz="1050">
                <a:solidFill>
                  <a:srgbClr val="1E293B"/>
                </a:solidFill>
              </a:rPr>
              <a:t>Непрерывный фоновый мониторинг рынков каждые 30 минут и авто-апдейт базы Qdrant.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Платные терминалы ТЭК: </a:t>
            </a:r>
            <a:r>
              <a:rPr sz="1050">
                <a:solidFill>
                  <a:srgbClr val="1E293B"/>
                </a:solidFill>
              </a:rPr>
              <a:t>Подключение через API специализированных баз: Argus Media, S&amp;P Platts, Cbonds, таможни ФТС.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Моментальные PUSH-алерты: </a:t>
            </a:r>
            <a:r>
              <a:rPr sz="1050">
                <a:solidFill>
                  <a:srgbClr val="1E293B"/>
                </a:solidFill>
              </a:rPr>
              <a:t>Мгновенная отправка High-severity сигналов тревоги в корпоративный чат или Telegram.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Прогнозирование рядов (ML): </a:t>
            </a:r>
            <a:r>
              <a:rPr sz="1050">
                <a:solidFill>
                  <a:srgbClr val="1E293B"/>
                </a:solidFill>
              </a:rPr>
              <a:t>Модели Prophet/Chronos для предиктивного моделирования коридоров цен и ставок фрахта.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291840" cy="73152"/>
          </a:xfrm>
          <a:prstGeom prst="rect">
            <a:avLst/>
          </a:prstGeom>
          <a:solidFill>
            <a:srgbClr val="007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/>
            <a:r>
              <a:rPr b="1" sz="1300">
                <a:solidFill>
                  <a:srgbClr val="002D5A"/>
                </a:solidFill>
              </a:rPr>
              <a:t>Агент 2: Стратег 2026+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'Виртуальный совет директоров': </a:t>
            </a:r>
            <a:r>
              <a:rPr sz="1050">
                <a:solidFill>
                  <a:srgbClr val="1E293B"/>
                </a:solidFill>
              </a:rPr>
              <a:t>Консилиум агентов (CFO, Главный инженер, Санкционный юрист) дебатирует по методу Дельфи.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Расчет финмодели (Tool Calling): </a:t>
            </a:r>
            <a:r>
              <a:rPr sz="1050">
                <a:solidFill>
                  <a:srgbClr val="1E293B"/>
                </a:solidFill>
              </a:rPr>
              <a:t>Вызов Python-калькулятора DCF: автоматический расчет NPV, IRR, окупаемости и стресс-тесты.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Аудит портфеля компании: </a:t>
            </a:r>
            <a:r>
              <a:rPr sz="1050">
                <a:solidFill>
                  <a:srgbClr val="1E293B"/>
                </a:solidFill>
              </a:rPr>
              <a:t>Семантическая сверка с базой текущих инвестпроектов компании для исключения каннибализации бюджетов.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Сценарное моделирование: </a:t>
            </a:r>
            <a:r>
              <a:rPr sz="1050">
                <a:solidFill>
                  <a:srgbClr val="1E293B"/>
                </a:solidFill>
              </a:rPr>
              <a:t>Прогноз эффектов при колебаниях курсов валют и ставок ЦБ.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463040"/>
            <a:ext cx="3291840" cy="73152"/>
          </a:xfrm>
          <a:prstGeom prst="rect">
            <a:avLst/>
          </a:prstGeom>
          <a:solidFill>
            <a:srgbClr val="007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4134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/>
            <a:r>
              <a:rPr b="1" sz="1300">
                <a:solidFill>
                  <a:srgbClr val="002D5A"/>
                </a:solidFill>
              </a:rPr>
              <a:t>Агент 3: Презентатор 2026+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Интерактивные BI-порталы: </a:t>
            </a:r>
            <a:r>
              <a:rPr sz="1050">
                <a:solidFill>
                  <a:srgbClr val="1E293B"/>
                </a:solidFill>
              </a:rPr>
              <a:t>Генерация интерактивных веб-дашбордов с возможностью провала в первоисточник (Drill-down).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Векторная авто-инфографика: </a:t>
            </a:r>
            <a:r>
              <a:rPr sz="1050">
                <a:solidFill>
                  <a:srgbClr val="1E293B"/>
                </a:solidFill>
              </a:rPr>
              <a:t>Программное построение карт Севморпути, диаграмм Ганта и waterfall-графиков формирования EBITDA.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Тиражирование на 50+ ДО: </a:t>
            </a:r>
            <a:r>
              <a:rPr sz="1050">
                <a:solidFill>
                  <a:srgbClr val="1E293B"/>
                </a:solidFill>
              </a:rPr>
              <a:t>Единый каталог YAML-профилей для всех НПЗ, сбытовых и добывающих предприятий компании.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Human-in-the-Loop DSPy: </a:t>
            </a:r>
            <a:r>
              <a:rPr sz="1050">
                <a:solidFill>
                  <a:srgbClr val="1E293B"/>
                </a:solidFill>
              </a:rPr>
              <a:t>Автоматическая донастройка промптов на истории оценок руководства.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463040"/>
            <a:ext cx="3413455" cy="73152"/>
          </a:xfrm>
          <a:prstGeom prst="rect">
            <a:avLst/>
          </a:prstGeom>
          <a:solidFill>
            <a:srgbClr val="10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079C2"/>
                </a:solidFill>
              </a:rPr>
              <a:t>ОБУЧЕНИЕ И БАЗА ЗНАНИЙ</a:t>
            </a:r>
          </a:p>
          <a:p>
            <a:pPr>
              <a:spcBef>
                <a:spcPts val="300"/>
              </a:spcBef>
            </a:pPr>
            <a:r>
              <a:rPr sz="1800" b="1">
                <a:solidFill>
                  <a:srgbClr val="002D5A"/>
                </a:solidFill>
              </a:rPr>
              <a:t>База знаний: Русскоязычные видеокурсы, лекции ведущих ML-школ и доклады (YouTube)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64748B"/>
                </a:solidFill>
              </a:rPr>
              <a:t>Отобранные лекции и доклады с HighLoad++, Data Fest, ODS и Сбера по ключевым технологиям проекта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/>
            <a:r>
              <a:rPr b="1" sz="1300">
                <a:solidFill>
                  <a:srgbClr val="002D5A"/>
                </a:solidFill>
              </a:rPr>
              <a:t>1. Мультиагенты и LangGraph на русском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ODS / Data Fest: </a:t>
            </a:r>
            <a:r>
              <a:rPr sz="1050">
                <a:solidFill>
                  <a:srgbClr val="1E293B"/>
                </a:solidFill>
              </a:rPr>
              <a:t>«Мультиагентные системы на базе LLM: от концепции до кода». Архитектура взаимодействия агентов и паттерны Supervisor.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LangGraph на практике: </a:t>
            </a:r>
            <a:r>
              <a:rPr sz="1050">
                <a:solidFill>
                  <a:srgbClr val="1E293B"/>
                </a:solidFill>
              </a:rPr>
              <a:t>Построение детерминированных графов состояний на Python с циклами самопроверки Reflexion.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120640" cy="73152"/>
          </a:xfrm>
          <a:prstGeom prst="rect">
            <a:avLst/>
          </a:prstGeom>
          <a:solidFill>
            <a:srgbClr val="007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/>
            <a:r>
              <a:rPr b="1" sz="1300">
                <a:solidFill>
                  <a:srgbClr val="002D5A"/>
                </a:solidFill>
              </a:rPr>
              <a:t>2. Advanced RAG и гибридный поиск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Karpov.Courses (Hard ML): </a:t>
            </a:r>
            <a:r>
              <a:rPr sz="1050">
                <a:solidFill>
                  <a:srgbClr val="1E293B"/>
                </a:solidFill>
              </a:rPr>
              <a:t>«Как устроен RAG: от наивного поиска до Production». Разбор эмбеддингов, чанкинга и косинусной близости.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HighLoad++ Конференция: </a:t>
            </a:r>
            <a:r>
              <a:rPr sz="1050">
                <a:solidFill>
                  <a:srgbClr val="1E293B"/>
                </a:solidFill>
              </a:rPr>
              <a:t>Гибридный поиск BM25 + Dense, слияние рангов RRF и кросс-энкодеры bge-reranker против галлюцинаций.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463040"/>
            <a:ext cx="5242255" cy="73152"/>
          </a:xfrm>
          <a:prstGeom prst="rect">
            <a:avLst/>
          </a:prstGeom>
          <a:solidFill>
            <a:srgbClr val="007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51206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/>
            <a:r>
              <a:rPr b="1" sz="1300">
                <a:solidFill>
                  <a:srgbClr val="002D5A"/>
                </a:solidFill>
              </a:rPr>
              <a:t>3. Корпоративный опыт Сбера и On-Premise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Sber AI / GigaChain: </a:t>
            </a:r>
            <a:r>
              <a:rPr sz="1050">
                <a:solidFill>
                  <a:srgbClr val="1E293B"/>
                </a:solidFill>
              </a:rPr>
              <a:t>Официальный опыт Сбера по оркестрации агентных сценариев в закрытом контуре без интернета.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DevOps Conf / HighLoad: </a:t>
            </a:r>
            <a:r>
              <a:rPr sz="1050">
                <a:solidFill>
                  <a:srgbClr val="1E293B"/>
                </a:solidFill>
              </a:rPr>
              <a:t>Развертывание серверов инференса vLLM и квантование моделей Qwen 2.5 / DeepSeek на внутренних GPU.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977639"/>
            <a:ext cx="5120640" cy="73152"/>
          </a:xfrm>
          <a:prstGeom prst="rect">
            <a:avLst/>
          </a:prstGeom>
          <a:solidFill>
            <a:srgbClr val="007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3977639"/>
            <a:ext cx="5242255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37160"/>
          <a:lstStyle/>
          <a:p>
            <a:pPr algn="ctr"/>
            <a:r>
              <a:rPr b="1" sz="1300">
                <a:solidFill>
                  <a:srgbClr val="002D5A"/>
                </a:solidFill>
              </a:rPr>
              <a:t>4. Оценка качества Ragas и генерация слайдов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Тестирование RAG на русском: </a:t>
            </a:r>
            <a:r>
              <a:rPr sz="1050">
                <a:solidFill>
                  <a:srgbClr val="1E293B"/>
                </a:solidFill>
              </a:rPr>
              <a:t>Расчет метрик Faithfulness, Answer Relevance и бенчмаркинг точности ответов без галлюцинаций.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E293B"/>
                </a:solidFill>
              </a:rPr>
              <a:t>• Автоматизация python-pptx: </a:t>
            </a:r>
            <a:r>
              <a:rPr sz="1050">
                <a:solidFill>
                  <a:srgbClr val="1E293B"/>
                </a:solidFill>
              </a:rPr>
              <a:t>Практическое руководство по созданию презентаций из кода Python по мастер-шаблону компании.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977639"/>
            <a:ext cx="5242255" cy="73152"/>
          </a:xfrm>
          <a:prstGeom prst="rect">
            <a:avLst/>
          </a:prstGeom>
          <a:solidFill>
            <a:srgbClr val="007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0079C2"/>
                </a:solidFill>
              </a:rPr>
              <a:t>ГОТОВНОСТЬ К РЕАЛИЗАЦИИ И СТАРТУ</a:t>
            </a:r>
          </a:p>
          <a:p>
            <a:pPr>
              <a:spcBef>
                <a:spcPts val="1400"/>
              </a:spcBef>
            </a:pPr>
            <a:r>
              <a:rPr b="1" sz="3200">
                <a:solidFill>
                  <a:srgbClr val="FFFFFF"/>
                </a:solidFill>
              </a:rPr>
              <a:t>Спасибо за внимание! Готов к запуску проекта.</a:t>
            </a:r>
          </a:p>
          <a:p>
            <a:pPr>
              <a:spcBef>
                <a:spcPts val="1600"/>
              </a:spcBef>
            </a:pPr>
            <a:r>
              <a:rPr sz="1500">
                <a:solidFill>
                  <a:srgbClr val="C8DCF0"/>
                </a:solidFill>
              </a:rPr>
              <a:t>Комплексный отчет в Word, структурированный Markdown и архитектурный код подготовлены.
Готов ответить на вопросы и приступить к первому установочному спринту с командой ДСИиУР.</a:t>
            </a:r>
          </a:p>
          <a:p>
            <a:pPr>
              <a:spcBef>
                <a:spcPts val="2400"/>
              </a:spcBef>
            </a:pPr>
            <a:r>
              <a:rPr sz="1200">
                <a:solidFill>
                  <a:srgbClr val="A0BEDC"/>
                </a:solidFill>
              </a:rPr>
              <a:t>Кандидат / Разработчик: Лаврентий  |  ПАО «Газпром нефть»  |  Санкт-Петербург,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
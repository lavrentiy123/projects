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03052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645920"/>
            <a:ext cx="9235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72CE"/>
                </a:solidFill>
              </a:defRPr>
            </a:pPr>
            <a:r>
              <a:t>ДЕПАРТАМЕНТ СТРАТЕГИЧЕСКИХ ИНИЦИАТИВ И УПРАВЛЕНИЯ РАЗВИТИЕМ</a:t>
            </a:r>
          </a:p>
          <a:p>
            <a:pPr>
              <a:spcBef>
                <a:spcPts val="1200"/>
              </a:spcBef>
              <a:defRPr sz="2600" b="1">
                <a:solidFill>
                  <a:srgbClr val="FFFFFF"/>
                </a:solidFill>
              </a:defRPr>
            </a:pPr>
            <a:r>
              <a:t>Мультиагентная система стратегического анализа</a:t>
            </a:r>
            <a:br/>
            <a:r>
              <a:t>и сквозного каскадирования инициатив</a:t>
            </a:r>
          </a:p>
          <a:p>
            <a:pPr>
              <a:spcBef>
                <a:spcPts val="1400"/>
              </a:spcBef>
              <a:defRPr sz="1300">
                <a:solidFill>
                  <a:srgbClr val="CBD5E1"/>
                </a:solidFill>
              </a:defRPr>
            </a:pPr>
            <a:r>
              <a:t>Сквозной выпуск: RUN_20260916_104401 [ЖИВОЙ ОНЛАЙН-ПАРСИНГ] • 2026-09-16 10:44:01</a:t>
            </a:r>
          </a:p>
          <a:p>
            <a:pPr>
              <a:spcBef>
                <a:spcPts val="2000"/>
              </a:spcBef>
              <a:defRPr sz="1200">
                <a:solidFill>
                  <a:srgbClr val="0072CE"/>
                </a:solidFill>
              </a:defRPr>
            </a:pPr>
            <a:r>
              <a:t>Архитектор решения: Лаврентий Ямпуров | Режим: ONLINE_LIVE_PARSING | Статус: Production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1: Мониторинг рынка и карточка угрозы (Агент-Аналитик)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ИДЕНТИФИЦИРОВАННЫЙ РЫНОЧНЫЙ СИГНАЛ: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WSJ: нефтяные компании США объявили о начале глобального топливного кризиса</a:t>
            </a:r>
          </a:p>
          <a:p>
            <a:pPr>
              <a:spcBef>
                <a:spcPts val="800"/>
              </a:spcBef>
              <a:defRPr sz="1100" b="1">
                <a:solidFill>
                  <a:srgbClr val="DC2626"/>
                </a:solidFill>
              </a:defRPr>
            </a:pPr>
            <a:r>
              <a:t>Источник: Коммерсантъ Бизнес / ТЭК  •  Критичность: ВЫСОКАЯ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Сектор: Экспортная инфраструктура и макроэкономика ТЭК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Суть сигнала и контекст: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Глобальный топливный кризис, о котором предупреждали крупнейшие нефтяные компании мира, уже наступил. Руководители американских Chevron и ExxonMobil заявляют, что длительная блокировка Ормузского пролива и атака на нефтепровод «Восток -- Запад» в Саудовской Аравии привели к серье...</a:t>
            </a:r>
          </a:p>
          <a:p>
            <a:pPr>
              <a:spcBef>
                <a:spcPts val="1000"/>
              </a:spcBef>
              <a:defRPr sz="1100" b="1">
                <a:solidFill>
                  <a:srgbClr val="0072CE"/>
                </a:solidFill>
              </a:defRPr>
            </a:pPr>
            <a:r>
              <a:t>Затронутые дочерние общества (ДО):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ПАО «Газпром нефть» (Корпоративный центр)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• ООО «Газпромнефть-Заполярье»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АГЕНТА 1 (EARLY WARNING):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СБОР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ЖИВОЙ ОНЛАЙН-ПАРСИНГ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КОНТРАКТ ДАННЫХ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Pydantic v2 (ThreatSignal: 100% валидно)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СРОЧНОСТЬ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Высокая (горизонт реагирования 60-90 дней)</a:t>
            </a:r>
          </a:p>
          <a:p>
            <a:pPr>
              <a:spcBef>
                <a:spcPts val="1200"/>
              </a:spcBef>
              <a:defRPr sz="1000" b="1">
                <a:solidFill>
                  <a:srgbClr val="64748B"/>
                </a:solidFill>
              </a:defRPr>
            </a:pPr>
            <a:r>
              <a:t>ПЕРЕДАЧА</a:t>
            </a:r>
          </a:p>
          <a:p>
            <a:pPr>
              <a:spcBef>
                <a:spcPts val="200"/>
              </a:spcBef>
              <a:defRPr sz="1200" b="1">
                <a:solidFill>
                  <a:srgbClr val="0F172A"/>
                </a:solidFill>
              </a:defRPr>
            </a:pPr>
            <a:r>
              <a:t>Передано в Агент 2 для запуска Reflexion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2: Синтез инициативы и самокритика Reflexion (Агент-Стратег)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ИНВЕСТИЦИОННЫЙ ПАСПОРТ ИНИЦИАТИВЫ: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Форсированное внедрение отечественного высокотемпературного комплекса MWD/LWD с гиросистемой</a:t>
            </a:r>
          </a:p>
          <a:p>
            <a:pPr>
              <a:spcBef>
                <a:spcPts val="800"/>
              </a:spcBef>
              <a:defRPr sz="1200" b="1">
                <a:solidFill>
                  <a:srgbClr val="0072CE"/>
                </a:solidFill>
              </a:defRPr>
            </a:pPr>
            <a:r>
              <a:t>Бюджет CAPEX: 420.0 млн руб.  •  Окупаемость: 2.7 года</a:t>
            </a:r>
          </a:p>
          <a:p>
            <a:pPr>
              <a:spcBef>
                <a:spcPts val="400"/>
              </a:spcBef>
              <a:defRPr sz="1200" b="1">
                <a:solidFill>
                  <a:srgbClr val="16A34A"/>
                </a:solidFill>
              </a:defRPr>
            </a:pPr>
            <a:r>
              <a:t>Уровень TRL: 8 / 9  •  Локализация: 88.0%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КОНТУР САМОКРИТИКИ (REFLEXION LOOP):</a:t>
            </a:r>
          </a:p>
          <a:p>
            <a:pPr>
              <a:spcBef>
                <a:spcPts val="400"/>
              </a:spcBef>
              <a:defRPr sz="1050">
                <a:solidFill>
                  <a:srgbClr val="DC2626"/>
                </a:solidFill>
              </a:defRPr>
            </a:pPr>
            <a:r>
              <a:t>Итерация 1: 6.85 / 10.0 (ОТКЛОНЕНО КРИТИКОМ: Слишком высокая зависимость от внешних каналов и риск срыва ...)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Компенсационные меры: оптимизация CAPEX (-100 млн руб), прямой альянс с НИИ РФ, рост TRL.</a:t>
            </a:r>
          </a:p>
          <a:p>
            <a:pPr>
              <a:spcBef>
                <a:spcPts val="400"/>
              </a:spcBef>
              <a:defRPr sz="1100" b="1">
                <a:solidFill>
                  <a:srgbClr val="16A34A"/>
                </a:solidFill>
              </a:defRPr>
            </a:pPr>
            <a:r>
              <a:t>Итерация 2: 9.19 / 10.0 (ОДОБРЕНО ИНВЕСТКОМИТЕТОМ)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СКОРИНГ ИНВЕСТИЦИОННОГО КОМИТЕТА: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Санкционная устойчивость (30%): 9.5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Импортозависимость снижена, поставки локализованы в РФ.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Финансы и CAPEX (30%): 9.0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Окупаемость 2.7 г. при CAPEX 420.0 млн руб (норма инвесткомитета соблюдена).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Зрелость технологий TRL (20%): 8.8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Уровень TRL 8: технология испытана и готова к серии.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ПБ, ОТ и экология (20%): 9.4 / 10</a:t>
            </a:r>
          </a:p>
          <a:p>
            <a:pPr>
              <a:spcBef>
                <a:spcPts val="200"/>
              </a:spcBef>
              <a:defRPr sz="1000">
                <a:solidFill>
                  <a:srgbClr val="64748B"/>
                </a:solidFill>
              </a:defRPr>
            </a:pPr>
            <a:r>
              <a:t>Полное соответствие нормативам безаварийности и ESG.</a:t>
            </a:r>
          </a:p>
          <a:p>
            <a:pPr>
              <a:spcBef>
                <a:spcPts val="1400"/>
              </a:spcBef>
              <a:defRPr sz="1400" b="1">
                <a:solidFill>
                  <a:srgbClr val="16A34A"/>
                </a:solidFill>
              </a:defRPr>
            </a:pPr>
            <a:r>
              <a:t>ИТОГОВЫЙ ИНДЕКС: 9.19 / 10.0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3.1: Каскадирование на Блок бурения и внутрискважинных работ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621792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0020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ПРОИЗВОДСТВЕННАЯ ИНИЦИАТИВА ДЛЯ БУРОВИКОВ:</a:t>
            </a:r>
          </a:p>
          <a:p>
            <a:pPr>
              <a:spcBef>
                <a:spcPts val="400"/>
              </a:spcBef>
              <a:defRPr sz="1500" b="1">
                <a:solidFill>
                  <a:srgbClr val="0F172A"/>
                </a:solidFill>
              </a:defRPr>
            </a:pPr>
            <a:r>
              <a:t>Перевод 12 эксплуатационных буровых бригад на отечественные комплексы с предиктивным контролем.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Профессиональный контекст: Проходка на станок, коммерческая скорость, безаварийность КНБК, MWD телеметрия.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Операционный план мероприятий: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Проведение ОПР отечественных забойных компоновок на 6 скважинах Бажена.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Оснащение забойных двигателей датчиками вибрации повышенной термостойкости.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Обучение инженеров сопровождения работе с новым российским ПО.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417320"/>
            <a:ext cx="420624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600200"/>
            <a:ext cx="374903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ЦЕЛЕВЫЕ ПОКАЗАТЕЛИ ПОДРАЗДЕЛЕНИЯ: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Коммерческая скорость бурения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1 450 м/ст-мес (база: 1 280 м/ст-мес)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Доля отечественной телеметрии MWD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88% (база: 42%)</a:t>
            </a:r>
          </a:p>
          <a:p>
            <a:pPr>
              <a:spcBef>
                <a:spcPts val="1000"/>
              </a:spcBef>
              <a:defRPr sz="1100" b="1">
                <a:solidFill>
                  <a:srgbClr val="0F172A"/>
                </a:solidFill>
              </a:defRPr>
            </a:pPr>
            <a:r>
              <a:t>Снижение аварийности при проводке</a:t>
            </a:r>
          </a:p>
          <a:p>
            <a:pPr>
              <a:spcBef>
                <a:spcPts val="200"/>
              </a:spcBef>
              <a:defRPr sz="1200" b="1">
                <a:solidFill>
                  <a:srgbClr val="16A34A"/>
                </a:solidFill>
              </a:defRPr>
            </a:pPr>
            <a:r>
              <a:t>Цель: -25% (база: базовый уровень)</a:t>
            </a:r>
          </a:p>
          <a:p>
            <a:pPr>
              <a:spcBef>
                <a:spcPts val="1400"/>
              </a:spcBef>
              <a:defRPr sz="1100" b="1">
                <a:solidFill>
                  <a:srgbClr val="0072CE"/>
                </a:solidFill>
              </a:defRPr>
            </a:pPr>
            <a:r>
              <a:t>Минимизация рисков: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Формирование неснижаемого страхового запаса узлов забойной электроники на базах ПОО.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Этап 3.2: Каскадирование на Логистику и Цифровизацию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ДЕПАРТАМЕНТ ЛОГИСТИКИ И ФЛОТА: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Синхронизация поставок оборудования и отгрузок с графиками навигации СМП.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Ключевой KPI: Срок экстренной доставки на промысел -&gt; &lt; 36 часов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Экономия на фрахте: -45 млн руб/год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Создание буферного склада модулей в порту Сабетта и на терминале Мыса Каменного.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Оптимизация плеча морской доставки за счет использования регулярных рейсов судов снабжения.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17320"/>
            <a:ext cx="5212080" cy="48920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0020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ДИРЕКЦИЯ ЦИФРОВОЙ ТРАНСФОРМАЦИИ И ИТ:</a:t>
            </a:r>
          </a:p>
          <a:p>
            <a:pPr>
              <a:spcBef>
                <a:spcPts val="400"/>
              </a:spcBef>
              <a:defRPr sz="1400" b="1">
                <a:solidFill>
                  <a:srgbClr val="0F172A"/>
                </a:solidFill>
              </a:defRPr>
            </a:pPr>
            <a:r>
              <a:t>Интеграция телеметрии отечественного оборудования в защищенный локальный контур компании.</a:t>
            </a:r>
          </a:p>
          <a:p>
            <a:pPr>
              <a:spcBef>
                <a:spcPts val="600"/>
              </a:spcBef>
              <a:defRPr sz="1100" b="1">
                <a:solidFill>
                  <a:srgbClr val="16A34A"/>
                </a:solidFill>
              </a:defRPr>
            </a:pPr>
            <a:r>
              <a:t>Доверенное ПО: 100% (база 45%)</a:t>
            </a:r>
          </a:p>
          <a:p>
            <a:pPr>
              <a:spcBef>
                <a:spcPts val="400"/>
              </a:spcBef>
              <a:defRPr sz="1100" b="1">
                <a:solidFill>
                  <a:srgbClr val="0072CE"/>
                </a:solidFill>
              </a:defRPr>
            </a:pPr>
            <a:r>
              <a:t>Точность ML-прогнозов: &gt; 91%</a:t>
            </a:r>
          </a:p>
          <a:p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Операционные шаги: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Разработка защищенных шлюзов сопряжения с контроллерами на базе Astra Linux.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• Развертывание алгоритмов предиктивного анализа телеметрии для предотвращения инцидентов.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91440" cy="685800"/>
          </a:xfrm>
          <a:prstGeom prst="rect">
            <a:avLst/>
          </a:prstGeom>
          <a:solidFill>
            <a:srgbClr val="007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36576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ДСИиУР ПАО «ГАЗПРОМ НЕФТЬ» • МУЛЬТИАГЕНТНЫЙ КОНВЕЙЕР</a:t>
            </a:r>
          </a:p>
          <a:p>
            <a:pPr>
              <a:defRPr sz="1900" b="1">
                <a:solidFill>
                  <a:srgbClr val="0F172A"/>
                </a:solidFill>
              </a:defRPr>
            </a:pPr>
            <a:r>
              <a:t>Сквозная дорожная карта и резолюция для Стратегического комитета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БУРЕНИЕ И ВСР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+13% коммерческой скорости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Локализация 88% компонентов и безаварийное бурение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ЛОГИСТИКА И ФЛОТ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-45 млн руб затрат на фрахт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Синхронизация буферных складов Сабетты и навигации СМП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83296" y="1417320"/>
            <a:ext cx="3364992" cy="29260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66176" y="1600200"/>
            <a:ext cx="2999232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ИТ И ЦИФРОВИЗАЦИЯ</a:t>
            </a:r>
          </a:p>
          <a:p>
            <a:pPr>
              <a:spcBef>
                <a:spcPts val="800"/>
              </a:spcBef>
              <a:defRPr sz="1600" b="1">
                <a:solidFill>
                  <a:srgbClr val="16A34A"/>
                </a:solidFill>
              </a:defRPr>
            </a:pPr>
            <a:r>
              <a:t>100% доверенное ПО</a:t>
            </a:r>
          </a:p>
          <a:p>
            <a:pPr>
              <a:spcBef>
                <a:spcPts val="800"/>
              </a:spcBef>
              <a:defRPr sz="1100">
                <a:solidFill>
                  <a:srgbClr val="64748B"/>
                </a:solidFill>
              </a:defRPr>
            </a:pPr>
            <a:r>
              <a:t>Изоляция промысловых данных забоя и предиктивный анализ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72000"/>
            <a:ext cx="10728655" cy="1737360"/>
          </a:xfrm>
          <a:prstGeom prst="round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70916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72CE"/>
                </a:solidFill>
              </a:defRPr>
            </a:pPr>
            <a:r>
              <a:t>РЕЗОЛЮЦИЯ ДЛЯ СТРАТЕГИЧЕСКОГО КОМИТЕТА:</a:t>
            </a:r>
          </a:p>
          <a:p>
            <a:pPr>
              <a:spcBef>
                <a:spcPts val="400"/>
              </a:spcBef>
              <a:defRPr sz="1200">
                <a:solidFill>
                  <a:srgbClr val="FFFFFF"/>
                </a:solidFill>
              </a:defRPr>
            </a:pPr>
            <a:r>
              <a:t>Мультиагентный конвейер на базе живого сетевого мониторинга отраслевых лент ТЭК сократил цикл 'Обнаружение угрозы -&gt; Синтез инвестиционной инициативы -&gt; Аудит нодой-критиком -&gt; Каскадирование по 3 блокам -&gt; Верстка презентации 16:9' с 14 рабочих дней до 1 секунды. Архитектура полностью детерминирована (Pydantic v2) и готова к развертыванию во внутреннем контуре компании.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
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74e77203a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b74e77203a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b74e77203a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57b2dc6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57b2dc6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6ea06f3c5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6ea06f3c5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 орг структуры - проектная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6ea06f3c5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6ea06f3c5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6ea06f3c5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6ea06f3c5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e181a55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e181a55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b448343d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b448343d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c0e10b0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c0e10b0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c0e10b05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c0e10b05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61dfaea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61dfaea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b448343d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b448343d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e181a551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e181a551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b448343d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b448343d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29.png"/><Relationship Id="rId9" Type="http://schemas.openxmlformats.org/officeDocument/2006/relationships/image" Target="../media/image2.jp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28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05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ru" sz="5380" u="sng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StockFlow</a:t>
            </a:r>
            <a:endParaRPr i="1" sz="5380" u="sng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78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ИИ-агент для прогнозирования спроса и управления товарными запасами в розничной торговле</a:t>
            </a:r>
            <a:endParaRPr sz="378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5042700" y="3982175"/>
            <a:ext cx="378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Биленко Мария, </a:t>
            </a:r>
            <a:r>
              <a:rPr lang="ru" sz="1500"/>
              <a:t>Павловец Вадим, Жаров Александр, Ямпуров Лаврентий, Фомина Ксения, Никитин Павел, Игорь Мазаев</a:t>
            </a:r>
            <a:endParaRPr sz="1500"/>
          </a:p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429275" y="181502"/>
            <a:ext cx="610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ru" sz="3100" u="none" cap="none" strike="noStrike">
                <a:solidFill>
                  <a:srgbClr val="1A1A1A"/>
                </a:solidFill>
                <a:latin typeface="Oswald"/>
                <a:ea typeface="Oswald"/>
                <a:cs typeface="Oswald"/>
                <a:sym typeface="Oswald"/>
              </a:rPr>
              <a:t>Почему мы выбрали этот проект?</a:t>
            </a:r>
            <a:endParaRPr i="0" sz="3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28650" y="957004"/>
            <a:ext cx="46719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i="0" lang="ru" sz="1200" u="none" cap="none" strike="noStrike">
                <a:solidFill>
                  <a:srgbClr val="333333"/>
                </a:solidFill>
                <a:latin typeface="Oswald"/>
                <a:ea typeface="Oswald"/>
                <a:cs typeface="Oswald"/>
                <a:sym typeface="Oswald"/>
              </a:rPr>
              <a:t>В условиях 2026 года ритейл сталкивается с критической волатильностью. Традиционные методы планирования не справляются: </a:t>
            </a:r>
            <a:r>
              <a:rPr b="1" i="0" lang="ru" sz="1200" u="none" cap="none" strike="noStrike">
                <a:solidFill>
                  <a:srgbClr val="333333"/>
                </a:solidFill>
                <a:latin typeface="Oswald"/>
                <a:ea typeface="Oswald"/>
                <a:cs typeface="Oswald"/>
                <a:sym typeface="Oswald"/>
              </a:rPr>
              <a:t>76%</a:t>
            </a:r>
            <a:r>
              <a:rPr i="0" lang="ru" sz="1200" u="none" cap="none" strike="noStrike">
                <a:solidFill>
                  <a:srgbClr val="333333"/>
                </a:solidFill>
                <a:latin typeface="Oswald"/>
                <a:ea typeface="Oswald"/>
                <a:cs typeface="Oswald"/>
                <a:sym typeface="Oswald"/>
              </a:rPr>
              <a:t> менеджеров отмечают рост дефицита. </a:t>
            </a:r>
            <a:endParaRPr i="0" sz="1200" u="none" cap="none" strike="noStrike">
              <a:solidFill>
                <a:srgbClr val="33333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i="0" lang="ru" sz="1200" u="none" cap="none" strike="noStrike">
                <a:solidFill>
                  <a:srgbClr val="333333"/>
                </a:solidFill>
                <a:latin typeface="Oswald"/>
                <a:ea typeface="Oswald"/>
                <a:cs typeface="Oswald"/>
                <a:sym typeface="Oswald"/>
              </a:rPr>
              <a:t>Наш ИИ-агент — это ответ на вызовы рынка, обеспечивающий переход от реактивного управления к проактивной автономии.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28650" y="2854263"/>
            <a:ext cx="2890540" cy="27860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628650" y="2854263"/>
            <a:ext cx="2890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83"/>
              <a:buFont typeface="Calibri"/>
              <a:buNone/>
            </a:pPr>
            <a:r>
              <a:rPr b="1" i="0" lang="ru" sz="683" u="none" cap="none" strike="noStrike">
                <a:solidFill>
                  <a:srgbClr val="F2F2F2"/>
                </a:solidFill>
                <a:latin typeface="Oswald"/>
                <a:ea typeface="Oswald"/>
                <a:cs typeface="Oswald"/>
                <a:sym typeface="Oswald"/>
              </a:rPr>
              <a:t>Показатель эффективности</a:t>
            </a:r>
            <a:endParaRPr i="0" sz="683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3519190" y="2854263"/>
            <a:ext cx="1781473" cy="27860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3519190" y="2854263"/>
            <a:ext cx="1781473" cy="278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83"/>
              <a:buFont typeface="Calibri"/>
              <a:buNone/>
            </a:pPr>
            <a:r>
              <a:rPr b="1" i="0" lang="ru" sz="683" u="none" cap="none" strike="noStrike">
                <a:solidFill>
                  <a:srgbClr val="F2F2F2"/>
                </a:solidFill>
                <a:latin typeface="Oswald"/>
                <a:ea typeface="Oswald"/>
                <a:cs typeface="Oswald"/>
                <a:sym typeface="Oswald"/>
              </a:rPr>
              <a:t>Ожидаемый результат</a:t>
            </a:r>
            <a:endParaRPr i="0" sz="683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628650" y="3132869"/>
            <a:ext cx="2890540" cy="301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Calibri"/>
              <a:buNone/>
            </a:pPr>
            <a:r>
              <a:rPr i="0" lang="ru" sz="834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Точность прогнозирования спроса</a:t>
            </a:r>
            <a:endParaRPr i="0" sz="834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519190" y="3132869"/>
            <a:ext cx="1781473" cy="301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lang="ru" sz="784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до 80%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628650" y="3434693"/>
            <a:ext cx="2890540" cy="305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Calibri"/>
              <a:buNone/>
            </a:pPr>
            <a:r>
              <a:rPr i="0" lang="ru" sz="834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Снижение дефицита (Stockouts)</a:t>
            </a:r>
            <a:endParaRPr i="0" sz="834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519190" y="3434693"/>
            <a:ext cx="1781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ru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ru" sz="784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28650" y="3740088"/>
            <a:ext cx="2890540" cy="305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Calibri"/>
              <a:buNone/>
            </a:pPr>
            <a:r>
              <a:rPr i="0" lang="ru" sz="834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Сокращение избыточных запасов</a:t>
            </a:r>
            <a:endParaRPr i="0" sz="834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519190" y="3740088"/>
            <a:ext cx="1781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ru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ru" sz="784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28650" y="4045483"/>
            <a:ext cx="2890540" cy="305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Calibri"/>
              <a:buNone/>
            </a:pPr>
            <a:r>
              <a:rPr i="0" lang="ru" sz="834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Автоматизация планирования закупок</a:t>
            </a:r>
            <a:endParaRPr i="0" sz="834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519190" y="4045483"/>
            <a:ext cx="1781473" cy="305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ru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до </a:t>
            </a:r>
            <a:r>
              <a:rPr b="1" lang="ru" sz="784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514975" y="1554212"/>
            <a:ext cx="3114600" cy="170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514975" y="1554212"/>
            <a:ext cx="3114600" cy="357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643563" y="1801369"/>
            <a:ext cx="2857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987"/>
              <a:buFont typeface="Calibri"/>
              <a:buNone/>
            </a:pPr>
            <a:r>
              <a:rPr b="1" i="0" lang="ru" sz="1200" u="none" cap="none" strike="noStrike">
                <a:solidFill>
                  <a:srgbClr val="FF4500"/>
                </a:solidFill>
                <a:latin typeface="Oswald"/>
                <a:ea typeface="Oswald"/>
                <a:cs typeface="Oswald"/>
                <a:sym typeface="Oswald"/>
              </a:rPr>
              <a:t>Уникальное торговое предложение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643563" y="2319291"/>
            <a:ext cx="2857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42"/>
              <a:buFont typeface="Calibri"/>
              <a:buNone/>
            </a:pPr>
            <a:r>
              <a:rPr i="1" lang="ru" sz="1100" u="none" cap="none" strike="noStrike">
                <a:solidFill>
                  <a:srgbClr val="F2F2F2"/>
                </a:solidFill>
                <a:latin typeface="Oswald"/>
                <a:ea typeface="Oswald"/>
                <a:cs typeface="Oswald"/>
                <a:sym typeface="Oswald"/>
              </a:rPr>
              <a:t>"Интеллектуальная автономия 360°: Ваш ИИ-агент, который предсказывает будущее спроса с точностью до </a:t>
            </a:r>
            <a:r>
              <a:rPr i="1" lang="ru" sz="1100">
                <a:solidFill>
                  <a:srgbClr val="F2F2F2"/>
                </a:solidFill>
                <a:latin typeface="Oswald"/>
                <a:ea typeface="Oswald"/>
                <a:cs typeface="Oswald"/>
                <a:sym typeface="Oswald"/>
              </a:rPr>
              <a:t>80</a:t>
            </a:r>
            <a:r>
              <a:rPr i="1" lang="ru" sz="1100" u="none" cap="none" strike="noStrike">
                <a:solidFill>
                  <a:srgbClr val="F2F2F2"/>
                </a:solidFill>
                <a:latin typeface="Oswald"/>
                <a:ea typeface="Oswald"/>
                <a:cs typeface="Oswald"/>
                <a:sym typeface="Oswald"/>
              </a:rPr>
              <a:t>% и самостоятельно управляет закупками."</a:t>
            </a:r>
            <a:endParaRPr i="0" sz="1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514975" y="3326560"/>
            <a:ext cx="3114675" cy="10001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975" y="3326560"/>
            <a:ext cx="31146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4975" y="4505278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697141" y="4490991"/>
            <a:ext cx="293250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ru" sz="800" u="none" cap="none" strike="noStrike">
                <a:solidFill>
                  <a:srgbClr val="1A1A1A"/>
                </a:solidFill>
                <a:latin typeface="Oswald"/>
                <a:ea typeface="Oswald"/>
                <a:cs typeface="Oswald"/>
                <a:sym typeface="Oswald"/>
              </a:rPr>
              <a:t>Проактивность:</a:t>
            </a:r>
            <a:r>
              <a:rPr i="0" lang="ru" sz="800" u="none" cap="none" strike="noStrike">
                <a:solidFill>
                  <a:srgbClr val="333333"/>
                </a:solidFill>
                <a:latin typeface="Oswald"/>
                <a:ea typeface="Oswald"/>
                <a:cs typeface="Oswald"/>
                <a:sym typeface="Oswald"/>
              </a:rPr>
              <a:t> Учет погоды, трендов и геополитики в реальном времени.</a:t>
            </a:r>
            <a:endParaRPr i="0" sz="8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reencoded.png" id="86" name="Google Shape;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4975" y="485671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5761434" y="4842430"/>
            <a:ext cx="2868216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ru" sz="800" u="none" cap="none" strike="noStrike">
                <a:solidFill>
                  <a:srgbClr val="1A1A1A"/>
                </a:solidFill>
                <a:latin typeface="Oswald"/>
                <a:ea typeface="Oswald"/>
                <a:cs typeface="Oswald"/>
                <a:sym typeface="Oswald"/>
              </a:rPr>
              <a:t>Бесшовность:</a:t>
            </a:r>
            <a:r>
              <a:rPr i="0" lang="ru" sz="800" u="none" cap="none" strike="noStrike">
                <a:solidFill>
                  <a:srgbClr val="333333"/>
                </a:solidFill>
                <a:latin typeface="Oswald"/>
                <a:ea typeface="Oswald"/>
                <a:cs typeface="Oswald"/>
                <a:sym typeface="Oswald"/>
              </a:rPr>
              <a:t> Автоматическое формирование заказов без участия человека.</a:t>
            </a:r>
            <a:endParaRPr i="0" sz="8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4569825" y="4071949"/>
            <a:ext cx="21525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Time-bound </a:t>
            </a:r>
            <a:b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Срок реализации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 —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до 1 апреля 2026 года</a:t>
            </a:r>
            <a:endParaRPr sz="1100">
              <a:solidFill>
                <a:srgbClr val="3D486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>
            <a:off x="6735025" y="1100"/>
            <a:ext cx="330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 txBox="1"/>
          <p:nvPr/>
        </p:nvSpPr>
        <p:spPr>
          <a:xfrm>
            <a:off x="4569825" y="0"/>
            <a:ext cx="21525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Specific </a:t>
            </a:r>
            <a:b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Разработать ИИ-помощника, который прогнозирует спрос по товарам и магазинам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на 14 дней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 вперёд; рекомендует оптимальные объёмы закупок; поддерживает управленческие решения в закупках и логистике.</a:t>
            </a:r>
            <a:endParaRPr sz="1700">
              <a:solidFill>
                <a:srgbClr val="3D486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6735025" y="971700"/>
            <a:ext cx="24195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Measurable</a:t>
            </a:r>
            <a:b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снижение дефицита товаров (out-of-stock) —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на 15%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; сокращение избыточных запасов —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на 10%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; не менее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60% заказов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 формируются с учётом рекомендаций системы; точность прогноза спроса —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до 80%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 по основному ассортименту.</a:t>
            </a:r>
            <a:endParaRPr sz="1700">
              <a:solidFill>
                <a:srgbClr val="3D4862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569825" y="1960525"/>
            <a:ext cx="2152500" cy="22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Attainable </a:t>
            </a:r>
            <a:b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используются уже имеющиеся данные о продажах, остатках и ценах; внедрение начинается с пилота на </a:t>
            </a:r>
            <a:r>
              <a:rPr b="1"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10–20 магазинах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; решение опирается на проверенные технологии прогнозирования; изменения встраиваются в текущие бизнес-процессы без их радикальной перестройки.</a:t>
            </a:r>
            <a:endParaRPr sz="1700">
              <a:solidFill>
                <a:srgbClr val="3D486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735025" y="3199500"/>
            <a:ext cx="21960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Relevant</a:t>
            </a: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b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100">
                <a:solidFill>
                  <a:srgbClr val="3D4862"/>
                </a:solidFill>
                <a:latin typeface="Oswald"/>
                <a:ea typeface="Oswald"/>
                <a:cs typeface="Oswald"/>
                <a:sym typeface="Oswald"/>
              </a:rPr>
              <a:t>снижение потерь выручки из-за отсутствия товара; меньше замороженного капитала в запасах; снижение ручного труда при планировании закупок; повышение управляемости цепочки поставок.</a:t>
            </a:r>
            <a:endParaRPr sz="1700">
              <a:solidFill>
                <a:srgbClr val="3D4862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25"/>
            <a:ext cx="4572000" cy="5143500"/>
          </a:xfrm>
          <a:prstGeom prst="rect">
            <a:avLst/>
          </a:prstGeom>
          <a:solidFill>
            <a:srgbClr val="2230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0" y="627950"/>
            <a:ext cx="4451100" cy="3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Разработать и внедрить ИИ-агента с веб-интерфейсом для управления товарными запасами для розничной торговой сети, который будет прогнозировать спрос по товарам и магазинам на горизонте 14 дней и формировать рекомендации по закупкам на основе существующих данных о продажах, остатках и ценах, обеспечив точность прогноза спроса до 80%, снижение дефицита товаров на полке не менее чем на 15% и сокращение избыточных запасов не менее чем на 10% к 1 апреля 2026 года.</a:t>
            </a:r>
            <a:endParaRPr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14626" y="2927"/>
            <a:ext cx="30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EFE8DB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ЦЕЛИ ПРОЕКТА</a:t>
            </a:r>
            <a:endParaRPr sz="3520" u="sng">
              <a:solidFill>
                <a:srgbClr val="EFE8DB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05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14625" y="2925"/>
            <a:ext cx="3939900" cy="7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EFE8DB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КОМАНДА ПРОЕКТА</a:t>
            </a:r>
            <a:endParaRPr sz="3520" u="sng">
              <a:solidFill>
                <a:srgbClr val="EFE8DB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111375" y="1869400"/>
            <a:ext cx="1833900" cy="19935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188213" y="747838"/>
            <a:ext cx="1833900" cy="17034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2175713" y="3127050"/>
            <a:ext cx="1833900" cy="17034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655175" y="747825"/>
            <a:ext cx="1833900" cy="17034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7122138" y="747838"/>
            <a:ext cx="1833900" cy="17034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517800" y="3126675"/>
            <a:ext cx="1833900" cy="17034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3339" y="3376939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Project manager</a:t>
            </a:r>
            <a:endParaRPr sz="15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103429" y="1988356"/>
            <a:ext cx="22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Product manager/ Маркетолог</a:t>
            </a:r>
            <a:endParaRPr sz="13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2134891" y="4344475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Разработчик/Дизайнер</a:t>
            </a:r>
            <a:endParaRPr sz="15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604113" y="1981889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Риск менеджер</a:t>
            </a:r>
            <a:endParaRPr sz="15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517800" y="4269625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Системный аналитик</a:t>
            </a:r>
            <a:endParaRPr sz="15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7088100" y="1913025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Системный инженер</a:t>
            </a:r>
            <a:endParaRPr sz="15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1839" y="3580057"/>
            <a:ext cx="183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Биленко Мария</a:t>
            </a:r>
            <a:endParaRPr sz="12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103425" y="2151950"/>
            <a:ext cx="2124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Ямпуров Лаврентий</a:t>
            </a:r>
            <a:endParaRPr sz="11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7088157" y="2151943"/>
            <a:ext cx="1935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Павловец Вадим</a:t>
            </a:r>
            <a:endParaRPr sz="10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510996" y="4537596"/>
            <a:ext cx="183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Жаров Александр</a:t>
            </a:r>
            <a:endParaRPr sz="12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604125" y="2177975"/>
            <a:ext cx="183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Фомина Ксения </a:t>
            </a:r>
            <a:endParaRPr sz="12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2139563" y="4565200"/>
            <a:ext cx="1935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Никитин Павел</a:t>
            </a:r>
            <a:endParaRPr sz="11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945275" y="2519325"/>
            <a:ext cx="1380600" cy="3936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3274575" y="2519325"/>
            <a:ext cx="2437200" cy="3936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5337475" y="2520038"/>
            <a:ext cx="2437200" cy="3936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 title="Фото 09.01.2025, 16.59 #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50" y="1913027"/>
            <a:ext cx="1770549" cy="150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 title="Снимок экрана 2026-01-14 в 16.00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7709" y="747825"/>
            <a:ext cx="1740374" cy="1276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Снимок экрана 2026-01-14 в 16.02.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300" y="756879"/>
            <a:ext cx="1770551" cy="1299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Снимок экрана 2026-01-14 в 16.04.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0645" y="772490"/>
            <a:ext cx="1770551" cy="1299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Снимок экрана 2026-01-14 в 16.05.5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7565" y="3144325"/>
            <a:ext cx="1740374" cy="1276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 flipH="1" rot="10800000">
            <a:off x="1945275" y="2844338"/>
            <a:ext cx="1380600" cy="279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 flipH="1" rot="10800000">
            <a:off x="4320125" y="2823625"/>
            <a:ext cx="1256100" cy="279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 flipH="1" rot="10800000">
            <a:off x="6379859" y="2823632"/>
            <a:ext cx="1380600" cy="279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972825" y="3144325"/>
            <a:ext cx="1833900" cy="1703400"/>
          </a:xfrm>
          <a:prstGeom prst="rect">
            <a:avLst/>
          </a:prstGeom>
          <a:solidFill>
            <a:srgbClr val="3D4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8DB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6972825" y="4334525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Data + ML </a:t>
            </a:r>
            <a:r>
              <a:rPr lang="ru" sz="1500">
                <a:solidFill>
                  <a:srgbClr val="EFE8DB"/>
                </a:solidFill>
                <a:latin typeface="Oswald"/>
                <a:ea typeface="Oswald"/>
                <a:cs typeface="Oswald"/>
                <a:sym typeface="Oswald"/>
              </a:rPr>
              <a:t>Engineer</a:t>
            </a:r>
            <a:endParaRPr sz="1500">
              <a:solidFill>
                <a:srgbClr val="EFE8D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966021" y="4555246"/>
            <a:ext cx="183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EFE8DB"/>
                </a:solidFill>
                <a:latin typeface="Oswald Light"/>
                <a:ea typeface="Oswald Light"/>
                <a:cs typeface="Oswald Light"/>
                <a:sym typeface="Oswald Light"/>
              </a:rPr>
              <a:t>Игорь Мазаев</a:t>
            </a:r>
            <a:endParaRPr sz="1200">
              <a:solidFill>
                <a:srgbClr val="EFE8DB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8">
            <a:alphaModFix/>
          </a:blip>
          <a:srcRect b="32160" l="840" r="-840" t="16621"/>
          <a:stretch/>
        </p:blipFill>
        <p:spPr>
          <a:xfrm>
            <a:off x="4557775" y="3133800"/>
            <a:ext cx="1770550" cy="118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9">
            <a:alphaModFix/>
          </a:blip>
          <a:srcRect b="38367" l="-4312" r="-4312" t="18707"/>
          <a:stretch/>
        </p:blipFill>
        <p:spPr>
          <a:xfrm>
            <a:off x="6997700" y="3190475"/>
            <a:ext cx="1770550" cy="118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14625" y="2925"/>
            <a:ext cx="8194800" cy="7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520" u="sng">
                <a:solidFill>
                  <a:srgbClr val="223051"/>
                </a:solidFill>
                <a:latin typeface="Oswald"/>
                <a:ea typeface="Oswald"/>
                <a:cs typeface="Oswald"/>
                <a:sym typeface="Oswald"/>
              </a:rPr>
              <a:t>ФУНКЦИОНАЛЬНЫЕ</a:t>
            </a:r>
            <a:r>
              <a:rPr b="1" lang="ru" sz="3520" u="sng">
                <a:solidFill>
                  <a:srgbClr val="223051"/>
                </a:solidFill>
                <a:latin typeface="Oswald"/>
                <a:ea typeface="Oswald"/>
                <a:cs typeface="Oswald"/>
                <a:sym typeface="Oswald"/>
              </a:rPr>
              <a:t> ОБЛАСТИ И KPI</a:t>
            </a:r>
            <a:endParaRPr b="1" sz="3520" u="sng">
              <a:solidFill>
                <a:srgbClr val="22305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6051225" y="2766400"/>
            <a:ext cx="2636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73763"/>
                </a:solidFill>
                <a:latin typeface="Oswald"/>
                <a:ea typeface="Oswald"/>
                <a:cs typeface="Oswald"/>
                <a:sym typeface="Oswald"/>
              </a:rPr>
              <a:t>Управление запасами</a:t>
            </a:r>
            <a:endParaRPr sz="1800">
              <a:solidFill>
                <a:srgbClr val="0737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88250" y="782025"/>
            <a:ext cx="26364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73763"/>
                </a:solidFill>
                <a:latin typeface="Oswald"/>
                <a:ea typeface="Oswald"/>
                <a:cs typeface="Oswald"/>
                <a:sym typeface="Oswald"/>
              </a:rPr>
              <a:t>Прогнозирование спроса</a:t>
            </a:r>
            <a:endParaRPr sz="1800">
              <a:solidFill>
                <a:srgbClr val="0737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355063" y="1885200"/>
            <a:ext cx="26364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73763"/>
                </a:solidFill>
                <a:latin typeface="Oswald"/>
                <a:ea typeface="Oswald"/>
                <a:cs typeface="Oswald"/>
                <a:sym typeface="Oswald"/>
              </a:rPr>
              <a:t>Логистика и распределение</a:t>
            </a:r>
            <a:endParaRPr sz="1800">
              <a:solidFill>
                <a:srgbClr val="0737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6020525" y="727175"/>
            <a:ext cx="2636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73763"/>
                </a:solidFill>
                <a:latin typeface="Oswald"/>
                <a:ea typeface="Oswald"/>
                <a:cs typeface="Oswald"/>
                <a:sym typeface="Oswald"/>
              </a:rPr>
              <a:t>Планирование закупок</a:t>
            </a:r>
            <a:endParaRPr sz="1800">
              <a:solidFill>
                <a:srgbClr val="0737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56900" y="2732425"/>
            <a:ext cx="2636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73763"/>
                </a:solidFill>
                <a:latin typeface="Oswald"/>
                <a:ea typeface="Oswald"/>
                <a:cs typeface="Oswald"/>
                <a:sym typeface="Oswald"/>
              </a:rPr>
              <a:t>Управление данными и ИТ</a:t>
            </a:r>
            <a:endParaRPr sz="1800">
              <a:solidFill>
                <a:srgbClr val="0737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54150" y="1267000"/>
            <a:ext cx="29190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Точность прогноза до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80%.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учтенных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ручных корректировок – % прогнозов, откорректированных вручную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20%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Время генерации прогноза до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60 минут</a:t>
            </a:r>
            <a:endParaRPr sz="13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020525" y="3251800"/>
            <a:ext cx="2919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Уровень дефицита снижен на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≈15%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Уровень избыточных запасов снижен на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≈10%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товаров с длительным отсутствием продаж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3%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Дни покрытия: средний запас в днях продаж -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28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6020525" y="1138450"/>
            <a:ext cx="29190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автоматических заказов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≥60%</a:t>
            </a:r>
            <a:b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Среднее время формирования одного заказа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3 минут</a:t>
            </a:r>
            <a:b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заказов, 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отмененных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или сильно исправленных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(&gt;±20%) — ≤ 15%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Заказы, признанные ошибочными постфактум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10%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382350" y="2329500"/>
            <a:ext cx="24780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поставок On-Time In-Full (OTIF) — ≥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90%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Среднее отклонение от планового срока поставки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1 день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неполных поставок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5%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Время реакции на логистический сбой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24 часа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98200" y="3217825"/>
            <a:ext cx="31278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Полнота данных (без пропусков в ключевых полях)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≥ 99%</a:t>
            </a:r>
            <a:b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Актуальность данных — обновление не реже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 раза в 24 часа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ошибочных записей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0,5%</a:t>
            </a:r>
            <a:endParaRPr b="1"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Успешность ETL-процессов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≥ 99% 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запусков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Количество инцидентов данных — </a:t>
            </a:r>
            <a:r>
              <a:rPr b="1"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≤ 2 </a:t>
            </a:r>
            <a:r>
              <a:rPr lang="ru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 месяц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14625" y="2925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ТЕХНИЧЕСКОЕ ЗАДАНИЕ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2900" y="250200"/>
            <a:ext cx="1370874" cy="137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350" y="839450"/>
            <a:ext cx="3974551" cy="40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1" name="Google Shape;171;p21"/>
          <p:cNvSpPr txBox="1"/>
          <p:nvPr>
            <p:ph type="title"/>
          </p:nvPr>
        </p:nvSpPr>
        <p:spPr>
          <a:xfrm>
            <a:off x="158575" y="27950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Анализ рисков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50" y="1288275"/>
            <a:ext cx="8839204" cy="3720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title="Group 50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7950" y="94100"/>
            <a:ext cx="1063201" cy="106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9" name="Google Shape;179;p22"/>
          <p:cNvSpPr txBox="1"/>
          <p:nvPr>
            <p:ph type="title"/>
          </p:nvPr>
        </p:nvSpPr>
        <p:spPr>
          <a:xfrm>
            <a:off x="158575" y="27950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Методология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4653475" y="282400"/>
            <a:ext cx="32958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Scrum:</a:t>
            </a:r>
            <a:endParaRPr b="1" sz="11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Спринты каждые 2 недели демонстрируют заказчику прогнозы и рекомендации, чтобы корректировать функционал и обеспечивать ценность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Итерации позволяют постепенно добавлять новые возможности: от базовой модели и интерфейса до рекомендаций и автоматизации закупок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Планирование и ретроспективы дают ясность команды и заказчика о прогрессе и влиянии на ключевые метрики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4653475" y="2737600"/>
            <a:ext cx="3295800" cy="2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Kanban:</a:t>
            </a:r>
            <a:endParaRPr b="1" sz="11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Доска Kanban позволяет гибко вставлять новые задачи при изменениях данных и акций магазина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Визуализация задач от подготовки данных до тестирования интерфейса облегчает совместное планирование и контроль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Постоянное движение задач обеспечивает непрерывное улучшение модели и рекомендаций даже после выпуска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00" y="1818850"/>
            <a:ext cx="2984250" cy="29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207000" y="691163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Методология: Agile</a:t>
            </a:r>
            <a:br>
              <a:rPr b="1"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lang="ru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Фреймворк: Scrumban (Scrum + Kanban)</a:t>
            </a:r>
            <a:endParaRPr b="1"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9" name="Google Shape;189;p23"/>
          <p:cNvSpPr txBox="1"/>
          <p:nvPr>
            <p:ph type="title"/>
          </p:nvPr>
        </p:nvSpPr>
        <p:spPr>
          <a:xfrm>
            <a:off x="14625" y="2925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UNIT Экономика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7525" y="160825"/>
            <a:ext cx="1335075" cy="1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 title="Снимок экрана 2026-01-28 в 15.52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0" y="2906525"/>
            <a:ext cx="3246249" cy="19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 title="Снимок экрана 2026-01-28 в 15.52.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50" y="670225"/>
            <a:ext cx="3267390" cy="202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 title="Снимок экрана 2026-01-28 в 15.52.5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3125" y="1585575"/>
            <a:ext cx="4413851" cy="27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9" name="Google Shape;199;p24"/>
          <p:cNvSpPr txBox="1"/>
          <p:nvPr>
            <p:ph type="title"/>
          </p:nvPr>
        </p:nvSpPr>
        <p:spPr>
          <a:xfrm>
            <a:off x="205700" y="155775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Конверсия клиентов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243650" y="1199500"/>
            <a:ext cx="60768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Oswald"/>
              <a:buChar char="●"/>
            </a:pP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Потенциальные пользователи: </a:t>
            </a:r>
            <a:r>
              <a:rPr b="1" lang="ru" sz="210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~40 тыс</a:t>
            </a:r>
            <a:endParaRPr b="1" sz="2100">
              <a:solidFill>
                <a:srgbClr val="1C4587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Char char="●"/>
            </a:pP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Конверсия в платящих клиентов: </a:t>
            </a:r>
            <a:r>
              <a:rPr b="1" lang="ru" sz="210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1-3 %</a:t>
            </a:r>
            <a:endParaRPr b="1" sz="2100">
              <a:solidFill>
                <a:srgbClr val="1C4587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Char char="●"/>
            </a:pP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Цель MVP: </a:t>
            </a:r>
            <a:r>
              <a:rPr b="1" lang="ru" sz="210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550</a:t>
            </a:r>
            <a:r>
              <a:rPr lang="ru" sz="210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платящих клиентов за </a:t>
            </a:r>
            <a:r>
              <a:rPr b="1" lang="ru" sz="210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24</a:t>
            </a: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месяца</a:t>
            </a:r>
            <a:endParaRPr sz="2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Char char="●"/>
            </a:pP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Доля рынка </a:t>
            </a:r>
            <a:r>
              <a:rPr b="1" lang="ru" sz="210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&lt; 1%</a:t>
            </a:r>
            <a:r>
              <a:rPr lang="ru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→ реалистично</a:t>
            </a:r>
            <a:endParaRPr sz="2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175" y="2926000"/>
            <a:ext cx="4201942" cy="21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286675" y="988875"/>
            <a:ext cx="314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2"/>
                </a:solidFill>
              </a:rPr>
              <a:t>Подготовка и анализ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Первичная загрузка данных, оценка качества и объема, развертывание минимального кластера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1367575" y="3165650"/>
            <a:ext cx="2773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2"/>
                </a:solidFill>
              </a:rPr>
              <a:t>Разработка ядра и ML-модели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Создание рабочего пайплайна данных и первой версии прогнозов.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3167675" y="1902225"/>
            <a:ext cx="282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2"/>
                </a:solidFill>
              </a:rPr>
              <a:t>Веб-интерфейс и интеграция в MVP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Разработка готового для тестирования продукта с UI.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4854163" y="3277725"/>
            <a:ext cx="290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2"/>
                </a:solidFill>
              </a:rPr>
              <a:t>Приемка, развертывание пилота и запуск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Запуск пилотной эксплуатации и достижение KPI.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5990075" y="1271000"/>
            <a:ext cx="282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2"/>
                </a:solidFill>
              </a:rPr>
              <a:t>Стабилизация, мониторинг и масштабирование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Переход от пилота к промышленной эксплуатации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12" name="Google Shape;212;p25"/>
          <p:cNvCxnSpPr/>
          <p:nvPr/>
        </p:nvCxnSpPr>
        <p:spPr>
          <a:xfrm>
            <a:off x="162300" y="3068475"/>
            <a:ext cx="8819400" cy="4500"/>
          </a:xfrm>
          <a:prstGeom prst="straightConnector1">
            <a:avLst/>
          </a:prstGeom>
          <a:noFill/>
          <a:ln cap="flat" cmpd="sng" w="38100">
            <a:solidFill>
              <a:srgbClr val="F3788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5"/>
          <p:cNvCxnSpPr>
            <a:endCxn id="214" idx="2"/>
          </p:cNvCxnSpPr>
          <p:nvPr/>
        </p:nvCxnSpPr>
        <p:spPr>
          <a:xfrm flipH="1" rot="10800000">
            <a:off x="286625" y="988800"/>
            <a:ext cx="1500" cy="2084400"/>
          </a:xfrm>
          <a:prstGeom prst="straightConnector1">
            <a:avLst/>
          </a:prstGeom>
          <a:noFill/>
          <a:ln cap="flat" cmpd="sng" w="38100">
            <a:solidFill>
              <a:srgbClr val="F3788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5"/>
          <p:cNvCxnSpPr/>
          <p:nvPr/>
        </p:nvCxnSpPr>
        <p:spPr>
          <a:xfrm rot="10800000">
            <a:off x="1362775" y="3072350"/>
            <a:ext cx="4800" cy="1598400"/>
          </a:xfrm>
          <a:prstGeom prst="straightConnector1">
            <a:avLst/>
          </a:prstGeom>
          <a:noFill/>
          <a:ln cap="flat" cmpd="sng" w="38100">
            <a:solidFill>
              <a:srgbClr val="F3788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5"/>
          <p:cNvCxnSpPr/>
          <p:nvPr/>
        </p:nvCxnSpPr>
        <p:spPr>
          <a:xfrm flipH="1" rot="10800000">
            <a:off x="3167675" y="2013075"/>
            <a:ext cx="1200" cy="1059900"/>
          </a:xfrm>
          <a:prstGeom prst="straightConnector1">
            <a:avLst/>
          </a:prstGeom>
          <a:noFill/>
          <a:ln cap="flat" cmpd="sng" w="38100">
            <a:solidFill>
              <a:srgbClr val="F3788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5"/>
          <p:cNvCxnSpPr>
            <a:stCxn id="218" idx="0"/>
          </p:cNvCxnSpPr>
          <p:nvPr/>
        </p:nvCxnSpPr>
        <p:spPr>
          <a:xfrm flipH="1" rot="10800000">
            <a:off x="4769475" y="3081275"/>
            <a:ext cx="300" cy="1289100"/>
          </a:xfrm>
          <a:prstGeom prst="straightConnector1">
            <a:avLst/>
          </a:prstGeom>
          <a:noFill/>
          <a:ln cap="flat" cmpd="sng" w="38100">
            <a:solidFill>
              <a:srgbClr val="F3788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5"/>
          <p:cNvCxnSpPr>
            <a:endCxn id="220" idx="2"/>
          </p:cNvCxnSpPr>
          <p:nvPr/>
        </p:nvCxnSpPr>
        <p:spPr>
          <a:xfrm rot="10800000">
            <a:off x="5996550" y="1342275"/>
            <a:ext cx="2100" cy="1730700"/>
          </a:xfrm>
          <a:prstGeom prst="straightConnector1">
            <a:avLst/>
          </a:prstGeom>
          <a:noFill/>
          <a:ln cap="flat" cmpd="sng" w="38100">
            <a:solidFill>
              <a:srgbClr val="F3788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5"/>
          <p:cNvSpPr txBox="1"/>
          <p:nvPr/>
        </p:nvSpPr>
        <p:spPr>
          <a:xfrm>
            <a:off x="57125" y="557700"/>
            <a:ext cx="46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4F4BFC"/>
                </a:solidFill>
              </a:rPr>
              <a:t>C1</a:t>
            </a:r>
            <a:endParaRPr b="1" sz="1600">
              <a:solidFill>
                <a:srgbClr val="4F4BFC"/>
              </a:solidFill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1114375" y="4644475"/>
            <a:ext cx="50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4F4BFC"/>
                </a:solidFill>
              </a:rPr>
              <a:t>C2</a:t>
            </a:r>
            <a:endParaRPr b="1" sz="1600">
              <a:solidFill>
                <a:srgbClr val="4F4BFC"/>
              </a:solidFill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2917475" y="1581975"/>
            <a:ext cx="50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4F4BFC"/>
                </a:solidFill>
              </a:rPr>
              <a:t>C3</a:t>
            </a:r>
            <a:endParaRPr b="1" sz="1600">
              <a:solidFill>
                <a:srgbClr val="4F4BFC"/>
              </a:solidFill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4518675" y="4370375"/>
            <a:ext cx="50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4F4BFC"/>
                </a:solidFill>
              </a:rPr>
              <a:t>C4</a:t>
            </a:r>
            <a:endParaRPr b="1" sz="1600">
              <a:solidFill>
                <a:srgbClr val="4F4BFC"/>
              </a:solidFill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5745750" y="911175"/>
            <a:ext cx="50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4F4BFC"/>
                </a:solidFill>
              </a:rPr>
              <a:t>C5</a:t>
            </a:r>
            <a:endParaRPr b="1" sz="1600">
              <a:solidFill>
                <a:srgbClr val="4F4BFC"/>
              </a:solidFill>
            </a:endParaRPr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608" y="2150901"/>
            <a:ext cx="693743" cy="7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 rotWithShape="1">
          <a:blip r:embed="rId4">
            <a:alphaModFix/>
          </a:blip>
          <a:srcRect b="4692" l="0" r="0" t="9998"/>
          <a:stretch/>
        </p:blipFill>
        <p:spPr>
          <a:xfrm>
            <a:off x="7046400" y="2317700"/>
            <a:ext cx="941850" cy="6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/>
          <p:cNvPicPr preferRelativeResize="0"/>
          <p:nvPr/>
        </p:nvPicPr>
        <p:blipFill rotWithShape="1">
          <a:blip r:embed="rId5">
            <a:alphaModFix/>
          </a:blip>
          <a:srcRect b="8477" l="17964" r="6621" t="10786"/>
          <a:stretch/>
        </p:blipFill>
        <p:spPr>
          <a:xfrm>
            <a:off x="2455350" y="4271659"/>
            <a:ext cx="754850" cy="628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6123" y="1117975"/>
            <a:ext cx="816252" cy="7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 rotWithShape="1">
          <a:blip r:embed="rId7">
            <a:alphaModFix/>
          </a:blip>
          <a:srcRect b="7472" l="0" r="0" t="8105"/>
          <a:stretch/>
        </p:blipFill>
        <p:spPr>
          <a:xfrm>
            <a:off x="6399488" y="4172925"/>
            <a:ext cx="693750" cy="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 title="Group 48 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05625" y="117925"/>
            <a:ext cx="1115525" cy="111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>
            <p:ph type="title"/>
          </p:nvPr>
        </p:nvSpPr>
        <p:spPr>
          <a:xfrm>
            <a:off x="14625" y="2925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Дорожная карта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5" name="Google Shape;235;p26"/>
          <p:cNvSpPr txBox="1"/>
          <p:nvPr>
            <p:ph type="title"/>
          </p:nvPr>
        </p:nvSpPr>
        <p:spPr>
          <a:xfrm>
            <a:off x="14625" y="2925"/>
            <a:ext cx="48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 u="sng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Диаграмма Ганта</a:t>
            </a:r>
            <a:endParaRPr sz="3520" u="sng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236" name="Google Shape;236;p26" title="Group 48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825" y="2925"/>
            <a:ext cx="727974" cy="72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 title="Снимок экрана 2026-01-28 в 15.50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00" y="601600"/>
            <a:ext cx="7509765" cy="454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8D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3" name="Google Shape;243;p27"/>
          <p:cNvSpPr txBox="1"/>
          <p:nvPr>
            <p:ph type="title"/>
          </p:nvPr>
        </p:nvSpPr>
        <p:spPr>
          <a:xfrm>
            <a:off x="852000" y="1953300"/>
            <a:ext cx="74400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7000">
                <a:solidFill>
                  <a:srgbClr val="22305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Ответы на вопросы</a:t>
            </a:r>
            <a:endParaRPr sz="7000">
              <a:solidFill>
                <a:srgbClr val="22305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FE8D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8" title="Tim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050" y="87525"/>
            <a:ext cx="10116704" cy="496845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50" name="Google Shape;250;p28" title="Group 33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525" y="404325"/>
            <a:ext cx="1229550" cy="12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3801350" y="1584625"/>
            <a:ext cx="498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
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72" r:id="rId15"/>
    <p:sldId id="268" r:id="rId16"/>
    <p:sldId id="273" r:id="rId17"/>
    <p:sldId id="269" r:id="rId18"/>
    <p:sldId id="27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473636-42EF-DDBC-4B38-59140C664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A14188-37D2-424A-D38F-202BBFEE0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8F968E-B975-25DD-3B63-0B656909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162BC-5B5D-206B-22BA-10ACF78D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5080D2-8E4F-64ED-DA53-370D0857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54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BB759-4DF0-4765-933D-4FA9E7E9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C601C4-14D9-3E02-077B-2B1D42FC6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794C89-FE85-AE17-55B2-F3C2411E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5588F0-B841-2F0B-4807-93F4FE48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C80AFC-2FE3-8B9C-B57E-43EB2F6B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14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3FEC6-D9B0-0CA6-CEF0-225C1E2C7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29632E-CE9F-4A1B-173A-272EAAD97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CA030E-48D4-38A2-F318-98E141FA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294BFA-91D8-E7C8-0F55-8F432CBA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3F3931-6431-AFEF-7C0C-27D61E41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87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94F94-EFBB-720D-D5A9-089CDC1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1E373-9D24-4A75-9706-4A3963F83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24FC24-9EC5-EAEE-C01A-C8D986B99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D9CA1E-C249-840A-EAFB-005F1196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E902F8-880B-551A-24B0-C0F4F2A1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4B6DC8-CDD6-F84B-6443-7799E111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37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D249E-D894-9776-2B23-881DADF8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D77234-8BA5-28A6-1217-EF74B5147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5094B9-5718-5E6E-4A2D-3D2E32F7C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673718-1FEF-0BC6-5158-D48E82836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E7E0915-515E-BCB0-ACAA-0897E34C0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65AD00-5ACB-2C4B-3CF2-0F400A7B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CE174F9-C7E8-CC6A-8C11-34A781D6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B755EF-868F-9997-29A6-1EB9E06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316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21813-9A1A-CAEC-B69C-8ADD7ABD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A88554-7A70-3634-8B03-4D84F807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0FBD69-3B1B-AD52-6378-878BBC36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6B2326-D5C3-0A3C-0011-916A21D8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57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4CE7ED-D1EF-9602-373F-00E0C9BC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BBE2FD-3F7B-C3D4-9E64-97FADD37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7A0901-F277-52E7-5760-BC03A5A8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28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EC2EA-63A5-7884-1F7C-2DF60450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41640A-0AC7-BDAB-5B5F-CBDAA5FEB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F748C4-36AA-7387-6759-E2B722778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284C31-000E-CC04-5024-31BEC82E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0D105D-55B5-573E-359B-843683A5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29F276-B5DD-B9DF-4959-6F3748D4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77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8EF2E-2A2B-F548-9BAA-D2F4B295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E5ACD6-9294-F16C-3436-18B1B929C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1D35E1-14AD-2C1F-9E19-30E1753D8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7385D6-047B-5F5D-4CB2-0CFC2C2B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DFFEE9-CC6F-1340-C79A-B2DB4D21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841CD6-1339-9F26-DE4C-15B733EB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35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7D21D5-9464-69AD-3E7A-0A0B0AEA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FD7243-D05D-6C38-1066-62014A40E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043CA8-2706-4557-11ED-783E54C1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CF18FA-15D2-51F5-CAE4-E5B8A76B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7CE090-0EC1-7EE3-D891-3871F0A6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10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FF322F-27B2-3756-C6E2-F463B6BAF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842A70-B4AF-49B7-7991-B0BBF0414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2CEDE6-A1AD-D1E7-2F6E-43FE1295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8947D2-C581-B3E6-14B0-571C4064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4C356-D4C7-FC52-B9AA-982861B4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24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946E2-7D25-9C36-E531-3831187B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2A0792-CC5B-E0FC-8F12-55F14FC51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913D4C-9AD2-6E82-23D8-356FA6675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BEA13-F2DF-4C67-8884-D8B2DFF7308A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D7DA5F-70CB-1E72-B44D-DB570B077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7D1526-24F5-6197-03BF-BCA6483AB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C7CFA-B482-4356-8771-D15516B32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54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213FF9-FB95-FE5B-93E4-88A33BAC8F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Прогнозирование оттока клиентов телеком-компании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6F353B-7DF3-523B-B808-A5D5EA4D5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Ямпуров Лаврентий</a:t>
            </a:r>
          </a:p>
        </p:txBody>
      </p:sp>
    </p:spTree>
    <p:extLst>
      <p:ext uri="{BB962C8B-B14F-4D97-AF65-F5344CB8AC3E}">
        <p14:creationId xmlns:p14="http://schemas.microsoft.com/office/powerpoint/2010/main" val="350608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FE7C4-D232-11EB-96FB-94F3EB53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74"/>
            <a:ext cx="10515600" cy="1325563"/>
          </a:xfrm>
        </p:spPr>
        <p:txBody>
          <a:bodyPr/>
          <a:lstStyle/>
          <a:p>
            <a:r>
              <a:rPr lang="ru-RU" dirty="0"/>
              <a:t>Бизнес-проблема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8EA36C-8B10-E056-531A-ECE928DBF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96" y="1130157"/>
            <a:ext cx="4861389" cy="48002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600" b="1" dirty="0"/>
              <a:t>📌 Проблема оттока клиентов</a:t>
            </a:r>
          </a:p>
          <a:p>
            <a:pPr marL="0" indent="0">
              <a:buNone/>
            </a:pPr>
            <a:r>
              <a:rPr lang="ru-RU" sz="1600" dirty="0"/>
              <a:t>В телекоммуникационной отрасли одной из ключевых проблем является </a:t>
            </a:r>
            <a:r>
              <a:rPr lang="ru-RU" sz="1600" b="1" dirty="0"/>
              <a:t>отток клиентов (Customer </a:t>
            </a:r>
            <a:r>
              <a:rPr lang="ru-RU" sz="1600" b="1" dirty="0" err="1"/>
              <a:t>Churn</a:t>
            </a:r>
            <a:r>
              <a:rPr lang="ru-RU" sz="1600" b="1" dirty="0"/>
              <a:t>)</a:t>
            </a:r>
            <a:r>
              <a:rPr lang="ru-RU" sz="1600" dirty="0"/>
              <a:t> — ситуация, при которой клиент прекращает пользоваться услугами компании.</a:t>
            </a:r>
          </a:p>
          <a:p>
            <a:pPr marL="0" indent="0">
              <a:buNone/>
            </a:pPr>
            <a:r>
              <a:rPr lang="ru-RU" sz="1600" dirty="0"/>
              <a:t>Высокий уровень конкуренции на рынке приводит к тому, что пользователи легко переходят к другим операторам, предлагающим более выгодные условия или лучший сервис.</a:t>
            </a:r>
          </a:p>
          <a:p>
            <a:pPr marL="0" indent="0">
              <a:buNone/>
            </a:pPr>
            <a:br>
              <a:rPr lang="ru-RU" sz="1600" dirty="0"/>
            </a:br>
            <a:endParaRPr lang="ru-RU" sz="1600" dirty="0"/>
          </a:p>
          <a:p>
            <a:pPr marL="0" indent="0">
              <a:buNone/>
            </a:pPr>
            <a:r>
              <a:rPr lang="ru-RU" sz="2600" b="1" dirty="0"/>
              <a:t>📉 Почему это важно</a:t>
            </a:r>
          </a:p>
          <a:p>
            <a:r>
              <a:rPr lang="ru-RU" sz="1600" dirty="0"/>
              <a:t>Привлечение нового клиента обходится значительно дороже, чем удержание существующего </a:t>
            </a:r>
          </a:p>
          <a:p>
            <a:r>
              <a:rPr lang="ru-RU" sz="1600" dirty="0"/>
              <a:t>Потеря клиентов напрямую снижает выручку компании </a:t>
            </a:r>
          </a:p>
          <a:p>
            <a:r>
              <a:rPr lang="ru-RU" sz="1600" dirty="0"/>
              <a:t>Высокий отток ухудшает показатели устойчивости бизнеса </a:t>
            </a:r>
          </a:p>
          <a:p>
            <a:pPr marL="0" indent="0">
              <a:buNone/>
            </a:pPr>
            <a:br>
              <a:rPr lang="ru-RU" sz="800" dirty="0"/>
            </a:br>
            <a:endParaRPr lang="ru-RU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F9C1D-6646-DCB5-19BA-A3AB2B931284}"/>
              </a:ext>
            </a:extLst>
          </p:cNvPr>
          <p:cNvSpPr txBox="1"/>
          <p:nvPr/>
        </p:nvSpPr>
        <p:spPr>
          <a:xfrm>
            <a:off x="5777502" y="1017142"/>
            <a:ext cx="622100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b="1" dirty="0"/>
              <a:t>🎯 Бизнес-цель</a:t>
            </a:r>
          </a:p>
          <a:p>
            <a:pPr marL="0" indent="0">
              <a:buNone/>
            </a:pPr>
            <a:r>
              <a:rPr lang="ru-RU" sz="1600" dirty="0"/>
              <a:t>Компания заинтересована в том, чтобы заранее выявлять клиентов с высоким риском ухода и предпринимать меры по их удержанию (скидки, бонусы, улучшение сервиса).</a:t>
            </a:r>
          </a:p>
          <a:p>
            <a:pPr marL="0" indent="0">
              <a:buNone/>
            </a:pPr>
            <a:br>
              <a:rPr lang="ru-RU" sz="1600" dirty="0"/>
            </a:br>
            <a:endParaRPr lang="ru-RU" sz="1600" dirty="0"/>
          </a:p>
          <a:p>
            <a:pPr marL="0" indent="0">
              <a:buNone/>
            </a:pPr>
            <a:endParaRPr lang="ru-RU" sz="2400" b="1" dirty="0"/>
          </a:p>
          <a:p>
            <a:pPr marL="0" indent="0">
              <a:buNone/>
            </a:pPr>
            <a:endParaRPr lang="ru-RU" sz="2400" b="1" dirty="0"/>
          </a:p>
          <a:p>
            <a:pPr marL="0" indent="0">
              <a:buNone/>
            </a:pPr>
            <a:endParaRPr lang="ru-RU" sz="2400" b="1" dirty="0"/>
          </a:p>
          <a:p>
            <a:pPr marL="0" indent="0">
              <a:buNone/>
            </a:pPr>
            <a:r>
              <a:rPr lang="ru-RU" sz="2400" b="1" dirty="0"/>
              <a:t>💡 Решение</a:t>
            </a:r>
          </a:p>
          <a:p>
            <a:pPr marL="0" indent="0">
              <a:buNone/>
            </a:pPr>
            <a:r>
              <a:rPr lang="ru-RU" sz="1600" dirty="0"/>
              <a:t>Использование методов машинного обучения позволяет:</a:t>
            </a:r>
          </a:p>
          <a:p>
            <a:r>
              <a:rPr lang="ru-RU" sz="1600" dirty="0"/>
              <a:t>прогнозировать вероятность оттока клиента </a:t>
            </a:r>
          </a:p>
          <a:p>
            <a:r>
              <a:rPr lang="ru-RU" sz="1600" dirty="0"/>
              <a:t>выявлять причины ухода </a:t>
            </a:r>
          </a:p>
          <a:p>
            <a:r>
              <a:rPr lang="ru-RU" sz="1600" dirty="0"/>
              <a:t>переходить от реактивной стратегии к проактивной</a:t>
            </a:r>
          </a:p>
        </p:txBody>
      </p:sp>
    </p:spTree>
    <p:extLst>
      <p:ext uri="{BB962C8B-B14F-4D97-AF65-F5344CB8AC3E}">
        <p14:creationId xmlns:p14="http://schemas.microsoft.com/office/powerpoint/2010/main" val="299770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5694F-2746-80C6-4DF5-3D480FF3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60EEC7-D7E3-CA2C-AFCB-0FD8551F7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05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Цель данной работы — разработать модель машинного обучения для прогнозирования оттока клиентов телекоммуникационной компании на основе их демографических данных, характеристик подключённых услуг и поведения при оплате.</a:t>
            </a:r>
          </a:p>
          <a:p>
            <a:pPr marL="0" indent="0">
              <a:buNone/>
            </a:pPr>
            <a:r>
              <a:rPr lang="ru-RU" sz="2000" dirty="0"/>
              <a:t>Модель должна позволять:</a:t>
            </a:r>
          </a:p>
          <a:p>
            <a:r>
              <a:rPr lang="ru-RU" sz="2000" dirty="0"/>
              <a:t>оценивать вероятность ухода клиента </a:t>
            </a:r>
          </a:p>
          <a:p>
            <a:r>
              <a:rPr lang="ru-RU" sz="2000" dirty="0"/>
              <a:t>ранжировать клиентов по уровню риска </a:t>
            </a:r>
          </a:p>
          <a:p>
            <a:r>
              <a:rPr lang="ru-RU" sz="2000" dirty="0"/>
              <a:t>помогать бизнесу принимать решения по удержанию клиентов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F9D1D-F520-A4CF-11D7-E569196630C4}"/>
              </a:ext>
            </a:extLst>
          </p:cNvPr>
          <p:cNvSpPr txBox="1"/>
          <p:nvPr/>
        </p:nvSpPr>
        <p:spPr>
          <a:xfrm>
            <a:off x="7237288" y="365125"/>
            <a:ext cx="495471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ru-RU" dirty="0"/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📊 Ожидаемый результат</a:t>
            </a:r>
          </a:p>
          <a:p>
            <a:pPr>
              <a:buNone/>
            </a:pPr>
            <a:r>
              <a:rPr lang="ru-RU" dirty="0"/>
              <a:t>Ожидается, что построенная модель будет: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предсказывать отток с высокой точностью (AUC-ROC &gt; 0.8)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выявлять ключевые факторы, влияющие на уход клиентов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использоваться в бизнесе для удержания клиентов 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📌 Бизнес-эффект</a:t>
            </a:r>
          </a:p>
          <a:p>
            <a:pPr>
              <a:buNone/>
            </a:pPr>
            <a:r>
              <a:rPr lang="ru-RU" dirty="0"/>
              <a:t>Использование модели позволит: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снизить уровень оттока клиентов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повысить </a:t>
            </a:r>
            <a:r>
              <a:rPr lang="ru-RU" dirty="0" err="1"/>
              <a:t>Retention</a:t>
            </a:r>
            <a:r>
              <a:rPr lang="ru-RU" dirty="0"/>
              <a:t>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увеличить пожизненную ценность клиента (LTV) </a:t>
            </a:r>
          </a:p>
        </p:txBody>
      </p:sp>
    </p:spTree>
    <p:extLst>
      <p:ext uri="{BB962C8B-B14F-4D97-AF65-F5344CB8AC3E}">
        <p14:creationId xmlns:p14="http://schemas.microsoft.com/office/powerpoint/2010/main" val="148342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D054D-E1AA-E1DC-6838-63CF9E03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Гипотеза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A9A405-B5D4-0CEE-516C-0EC363BF1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Предполагается, что поведение клиентов и вероятность их ухода можно достаточно точно предсказать с помощью методов машинного обучения.</a:t>
            </a:r>
          </a:p>
          <a:p>
            <a:pPr marL="0" indent="0">
              <a:buNone/>
            </a:pPr>
            <a:r>
              <a:rPr lang="ru-RU" dirty="0"/>
              <a:t>В частности, такие признаки как:</a:t>
            </a:r>
          </a:p>
          <a:p>
            <a:r>
              <a:rPr lang="ru-RU" dirty="0"/>
              <a:t>тип контракта </a:t>
            </a:r>
          </a:p>
          <a:p>
            <a:r>
              <a:rPr lang="ru-RU" dirty="0"/>
              <a:t>срок пользования услугами (</a:t>
            </a:r>
            <a:r>
              <a:rPr lang="ru-RU" dirty="0" err="1"/>
              <a:t>tenure</a:t>
            </a:r>
            <a:r>
              <a:rPr lang="ru-RU" dirty="0"/>
              <a:t>) </a:t>
            </a:r>
          </a:p>
          <a:p>
            <a:r>
              <a:rPr lang="ru-RU" dirty="0"/>
              <a:t>размер ежемесячных платежей </a:t>
            </a:r>
          </a:p>
          <a:p>
            <a:r>
              <a:rPr lang="ru-RU" dirty="0"/>
              <a:t>тип интернет-сервиса </a:t>
            </a:r>
          </a:p>
          <a:p>
            <a:r>
              <a:rPr lang="ru-RU" dirty="0"/>
              <a:t>способ оплаты </a:t>
            </a:r>
          </a:p>
          <a:p>
            <a:r>
              <a:rPr lang="ru-RU" dirty="0"/>
              <a:t>имеют значимое влияние на вероятность оттока клиента.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05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970CF-47CF-0FFC-7A1A-2BAE6155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368"/>
            <a:ext cx="10515600" cy="1325563"/>
          </a:xfrm>
        </p:spPr>
        <p:txBody>
          <a:bodyPr/>
          <a:lstStyle/>
          <a:p>
            <a:r>
              <a:rPr lang="ru-RU" dirty="0"/>
              <a:t>Описание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D2914-121E-54B0-2F86-ED97FB4BA0AD}"/>
              </a:ext>
            </a:extLst>
          </p:cNvPr>
          <p:cNvSpPr txBox="1"/>
          <p:nvPr/>
        </p:nvSpPr>
        <p:spPr>
          <a:xfrm>
            <a:off x="838200" y="1474931"/>
            <a:ext cx="60977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📊 Общая характеристика датасета</a:t>
            </a:r>
          </a:p>
          <a:p>
            <a:pPr>
              <a:buNone/>
            </a:pPr>
            <a:r>
              <a:rPr lang="ru-RU" dirty="0"/>
              <a:t>В работе используется открытый датасет </a:t>
            </a:r>
            <a:r>
              <a:rPr lang="ru-RU" dirty="0" err="1"/>
              <a:t>Telco</a:t>
            </a:r>
            <a:r>
              <a:rPr lang="ru-RU" dirty="0"/>
              <a:t> Customer </a:t>
            </a:r>
            <a:r>
              <a:rPr lang="ru-RU" dirty="0" err="1"/>
              <a:t>Churn</a:t>
            </a:r>
            <a:r>
              <a:rPr lang="ru-RU" dirty="0"/>
              <a:t>, содержащий данные клиентов телекоммуникационной компании.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Основные характеристики: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Количество наблюдений: 7043 клиента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Количество признаков: 21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Целевая переменная: </a:t>
            </a:r>
            <a:r>
              <a:rPr lang="ru-RU" dirty="0" err="1"/>
              <a:t>Churn</a:t>
            </a:r>
            <a:r>
              <a:rPr lang="ru-RU" dirty="0"/>
              <a:t> (отток клиента)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Тип задачи: бинарная классификация </a:t>
            </a:r>
          </a:p>
          <a:p>
            <a:endParaRPr lang="ru-RU" dirty="0"/>
          </a:p>
          <a:p>
            <a:pPr>
              <a:buNone/>
            </a:pPr>
            <a:r>
              <a:rPr lang="ru-RU" b="1" dirty="0"/>
              <a:t>🎯 Целевая переменная</a:t>
            </a:r>
          </a:p>
          <a:p>
            <a:pPr>
              <a:buNone/>
            </a:pPr>
            <a:r>
              <a:rPr lang="ru-RU" b="1" dirty="0" err="1"/>
              <a:t>Churn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1 — клиент ушёл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0 — клиент остался </a:t>
            </a:r>
          </a:p>
          <a:p>
            <a:pPr>
              <a:buNone/>
            </a:pPr>
            <a:r>
              <a:rPr lang="ru-RU" dirty="0"/>
              <a:t>📉 Доля оттока составляет примерно </a:t>
            </a:r>
            <a:r>
              <a:rPr lang="ru-RU" b="1" dirty="0"/>
              <a:t>26%</a:t>
            </a:r>
            <a:r>
              <a:rPr lang="ru-RU" dirty="0"/>
              <a:t>, что говорит о наличии дисбаланса классов.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52E671-EAFE-7988-94FD-ECB80D4BAAA2}"/>
              </a:ext>
            </a:extLst>
          </p:cNvPr>
          <p:cNvSpPr txBox="1"/>
          <p:nvPr/>
        </p:nvSpPr>
        <p:spPr>
          <a:xfrm>
            <a:off x="7875570" y="1392540"/>
            <a:ext cx="25385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📌 Основные группы признаков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👤 Демографические: </a:t>
            </a:r>
            <a:r>
              <a:rPr lang="en-US" sz="1600" dirty="0"/>
              <a:t>gender, </a:t>
            </a:r>
            <a:r>
              <a:rPr lang="en-US" sz="1600" dirty="0" err="1"/>
              <a:t>SeniorCitizen</a:t>
            </a:r>
            <a:r>
              <a:rPr lang="en-US" sz="1600" dirty="0"/>
              <a:t>, Partner, Dependents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📡 Услуги: </a:t>
            </a:r>
            <a:r>
              <a:rPr lang="en-US" sz="1600" dirty="0" err="1"/>
              <a:t>InternetService</a:t>
            </a:r>
            <a:r>
              <a:rPr lang="en-US" sz="1600" dirty="0"/>
              <a:t>, </a:t>
            </a:r>
            <a:r>
              <a:rPr lang="en-US" sz="1600" dirty="0" err="1"/>
              <a:t>TechSupport</a:t>
            </a:r>
            <a:r>
              <a:rPr lang="en-US" sz="1600" dirty="0"/>
              <a:t>, </a:t>
            </a:r>
            <a:r>
              <a:rPr lang="en-US" sz="1600" dirty="0" err="1"/>
              <a:t>StreamingTV</a:t>
            </a:r>
            <a:r>
              <a:rPr lang="en-US" sz="1600" dirty="0"/>
              <a:t> </a:t>
            </a:r>
            <a:r>
              <a:rPr lang="ru-RU" sz="1600" dirty="0"/>
              <a:t>и др.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💳 Финансовые: </a:t>
            </a:r>
            <a:r>
              <a:rPr lang="en-US" sz="1600" dirty="0" err="1"/>
              <a:t>MonthlyCharges</a:t>
            </a:r>
            <a:r>
              <a:rPr lang="en-US" sz="1600" dirty="0"/>
              <a:t>, </a:t>
            </a:r>
            <a:r>
              <a:rPr lang="en-US" sz="1600" dirty="0" err="1"/>
              <a:t>TotalCharges</a:t>
            </a:r>
            <a:r>
              <a:rPr lang="en-US" sz="1600" dirty="0"/>
              <a:t>, </a:t>
            </a:r>
            <a:r>
              <a:rPr lang="en-US" sz="1600" dirty="0" err="1"/>
              <a:t>PaymentMethod</a:t>
            </a:r>
            <a:r>
              <a:rPr lang="en-US" sz="16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⏳ </a:t>
            </a:r>
            <a:r>
              <a:rPr lang="ru-RU" sz="1600" dirty="0"/>
              <a:t>Поведенческие: </a:t>
            </a:r>
            <a:r>
              <a:rPr lang="en-US" sz="1600" dirty="0"/>
              <a:t>tenure (</a:t>
            </a:r>
            <a:r>
              <a:rPr lang="ru-RU" sz="1600" dirty="0"/>
              <a:t>срок пользования услугами)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📄 Контракт: </a:t>
            </a:r>
            <a:r>
              <a:rPr lang="en-US" sz="1600" dirty="0"/>
              <a:t>Contract (</a:t>
            </a:r>
            <a:r>
              <a:rPr lang="ru-RU" sz="1600" dirty="0"/>
              <a:t>тип договора)</a:t>
            </a:r>
          </a:p>
        </p:txBody>
      </p:sp>
    </p:spTree>
    <p:extLst>
      <p:ext uri="{BB962C8B-B14F-4D97-AF65-F5344CB8AC3E}">
        <p14:creationId xmlns:p14="http://schemas.microsoft.com/office/powerpoint/2010/main" val="2718234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D9FD0-FBC7-4975-E531-CB7D9D61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71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График оттока клиентов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649B8B-C074-3DEA-7BF4-D2F49AB75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5" y="1342734"/>
            <a:ext cx="5858693" cy="4172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16506F-3E2D-757B-8528-85CB90836907}"/>
              </a:ext>
            </a:extLst>
          </p:cNvPr>
          <p:cNvSpPr txBox="1"/>
          <p:nvPr/>
        </p:nvSpPr>
        <p:spPr>
          <a:xfrm>
            <a:off x="6114941" y="2505670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Распределение целевой переменной </a:t>
            </a:r>
            <a:r>
              <a:rPr lang="ru-RU" b="1" dirty="0" err="1"/>
              <a:t>Churn</a:t>
            </a:r>
            <a:endParaRPr lang="ru-RU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Класс 0 (клиенты, которые остались): ~5200 клиентов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Класс 1 (клиенты, которые ушли): ~1900 клиентов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8B51E-F8F7-4AB5-B9BA-CC15AC664D51}"/>
              </a:ext>
            </a:extLst>
          </p:cNvPr>
          <p:cNvSpPr txBox="1"/>
          <p:nvPr/>
        </p:nvSpPr>
        <p:spPr>
          <a:xfrm>
            <a:off x="275189" y="5515266"/>
            <a:ext cx="11679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dirty="0"/>
              <a:t>На графике видно, что в данных присутствует дисбаланс классов:</a:t>
            </a:r>
            <a:br>
              <a:rPr lang="ru-RU" sz="1600" dirty="0"/>
            </a:br>
            <a:r>
              <a:rPr lang="ru-RU" sz="1600" dirty="0"/>
              <a:t>большая часть клиентов (около 74%) продолжает пользоваться услугами компании, тогда как примерно 26% клиентов уходят.</a:t>
            </a:r>
          </a:p>
          <a:p>
            <a:pPr>
              <a:buNone/>
            </a:pPr>
            <a:r>
              <a:rPr lang="ru-RU" sz="1600" dirty="0"/>
              <a:t>Это означает, что задача прогнозирования оттока является несбалансированной классификацией, что важно учитывать при выборе метрик оценки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301428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3B110-5518-2A1C-4A52-74A55C83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(</a:t>
            </a:r>
            <a:r>
              <a:rPr lang="ru-RU" dirty="0"/>
              <a:t>разведочный анализ данных)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8C040A-4316-6B28-9A98-B7610869D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59" y="1546214"/>
            <a:ext cx="3854281" cy="2455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3C0273-2025-FAF4-2EE1-F7C162AA2247}"/>
              </a:ext>
            </a:extLst>
          </p:cNvPr>
          <p:cNvSpPr txBox="1"/>
          <p:nvPr/>
        </p:nvSpPr>
        <p:spPr>
          <a:xfrm>
            <a:off x="4292030" y="1690688"/>
            <a:ext cx="6097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/>
              <a:t>Вывод:</a:t>
            </a:r>
          </a:p>
          <a:p>
            <a:pPr>
              <a:buNone/>
            </a:pPr>
            <a:r>
              <a:rPr lang="ru-RU" sz="1600" dirty="0"/>
              <a:t>Клиенты с помесячным контрактом (</a:t>
            </a:r>
            <a:r>
              <a:rPr lang="ru-RU" sz="1600" dirty="0" err="1"/>
              <a:t>Month-to-month</a:t>
            </a:r>
            <a:r>
              <a:rPr lang="ru-RU" sz="1600" dirty="0"/>
              <a:t>) уходят значительно чаще, чем клиенты с годовыми и двухлетними контрактами.</a:t>
            </a:r>
          </a:p>
          <a:p>
            <a:pPr>
              <a:buNone/>
            </a:pPr>
            <a:r>
              <a:rPr lang="ru-RU" sz="1600" dirty="0"/>
              <a:t>👉 Это говорит о том, что </a:t>
            </a:r>
            <a:r>
              <a:rPr lang="ru-RU" sz="1600" b="1" dirty="0"/>
              <a:t>долгосрочные контракты повышают удержание клиентов</a:t>
            </a:r>
            <a:r>
              <a:rPr lang="ru-RU" sz="1600" dirty="0"/>
              <a:t>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7D6EE3-3495-0D1B-2652-55301719E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45768"/>
            <a:ext cx="3741076" cy="24550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033C05-234A-15CA-CF82-6F5B4D080CC4}"/>
              </a:ext>
            </a:extLst>
          </p:cNvPr>
          <p:cNvSpPr txBox="1"/>
          <p:nvPr/>
        </p:nvSpPr>
        <p:spPr>
          <a:xfrm>
            <a:off x="4292030" y="4357679"/>
            <a:ext cx="60977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/>
              <a:t>Вывод:</a:t>
            </a:r>
          </a:p>
          <a:p>
            <a:pPr>
              <a:buNone/>
            </a:pPr>
            <a:r>
              <a:rPr lang="ru-RU" sz="1600" dirty="0"/>
              <a:t>Чем меньше срок пользования услугами, тем выше вероятность оттока.</a:t>
            </a:r>
          </a:p>
          <a:p>
            <a:pPr>
              <a:buNone/>
            </a:pPr>
            <a:r>
              <a:rPr lang="ru-RU" sz="1600" dirty="0"/>
              <a:t>👉 Основная часть ушедших клиентов — это “новые клиенты”, которые не успели сформировать лояльность.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236569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9A727-EC10-EB01-9726-102496F5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(</a:t>
            </a:r>
            <a:r>
              <a:rPr lang="ru-RU" dirty="0"/>
              <a:t>разведочный анализ данных)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B08D56-7C08-3097-7618-86726C27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2660"/>
            <a:ext cx="4135707" cy="2671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A127EE-97F1-1A2D-F186-7F62766EA9F6}"/>
              </a:ext>
            </a:extLst>
          </p:cNvPr>
          <p:cNvSpPr txBox="1"/>
          <p:nvPr/>
        </p:nvSpPr>
        <p:spPr>
          <a:xfrm>
            <a:off x="4867382" y="1690688"/>
            <a:ext cx="60977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/>
              <a:t>Вывод:</a:t>
            </a:r>
          </a:p>
          <a:p>
            <a:pPr>
              <a:buNone/>
            </a:pPr>
            <a:r>
              <a:rPr lang="ru-RU" sz="1600" dirty="0"/>
              <a:t>Клиенты с более высокими ежемесячными платежами чаще уходят.</a:t>
            </a:r>
          </a:p>
          <a:p>
            <a:pPr>
              <a:buNone/>
            </a:pPr>
            <a:r>
              <a:rPr lang="ru-RU" sz="1600" dirty="0"/>
              <a:t>👉 Это может указывать на чувствительность клиентов к цене услуг.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9CCFA-E3E9-CDD2-008C-FC2216B689D0}"/>
              </a:ext>
            </a:extLst>
          </p:cNvPr>
          <p:cNvSpPr txBox="1"/>
          <p:nvPr/>
        </p:nvSpPr>
        <p:spPr>
          <a:xfrm>
            <a:off x="838200" y="4274049"/>
            <a:ext cx="80061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Общий бизнес-вывод</a:t>
            </a:r>
          </a:p>
          <a:p>
            <a:pPr>
              <a:buNone/>
            </a:pPr>
            <a:r>
              <a:rPr lang="ru-RU" dirty="0"/>
              <a:t>На основе EDA можно сделать вывод, что отток клиентов не является случайным процессом, а определяется набором факторов, связанных с: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типом контракта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длительностью взаимодействия с компанией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стоимостью услуг</a:t>
            </a:r>
          </a:p>
        </p:txBody>
      </p:sp>
    </p:spTree>
    <p:extLst>
      <p:ext uri="{BB962C8B-B14F-4D97-AF65-F5344CB8AC3E}">
        <p14:creationId xmlns:p14="http://schemas.microsoft.com/office/powerpoint/2010/main" val="282482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5250F-15C5-D8F2-080F-CD4EB30B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2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Предобработка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01FD9-485B-DAB5-F225-AF2C684749B0}"/>
              </a:ext>
            </a:extLst>
          </p:cNvPr>
          <p:cNvSpPr txBox="1"/>
          <p:nvPr/>
        </p:nvSpPr>
        <p:spPr>
          <a:xfrm>
            <a:off x="6096000" y="3703857"/>
            <a:ext cx="60977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✂️ 3. Удаление лишних признаков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Удалён идентификатор клиента </a:t>
            </a:r>
            <a:r>
              <a:rPr lang="ru-RU" dirty="0" err="1">
                <a:latin typeface="Courier New" panose="02070309020205020404" pitchFamily="49" charset="0"/>
              </a:rPr>
              <a:t>customerID</a:t>
            </a:r>
            <a:r>
              <a:rPr lang="ru-RU" dirty="0"/>
              <a:t> (не несёт информации для модели) 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📊 4. Разделение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Данные разделены на обучающую и тестовую выборки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Соотношение: </a:t>
            </a:r>
            <a:r>
              <a:rPr lang="ru-RU" b="1" dirty="0"/>
              <a:t>80% / 20%</a:t>
            </a:r>
            <a:r>
              <a:rPr lang="ru-RU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Использовалась стратификация по целевой переменной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6E482-E8B6-3CAE-0411-2C831ABCA575}"/>
              </a:ext>
            </a:extLst>
          </p:cNvPr>
          <p:cNvSpPr txBox="1"/>
          <p:nvPr/>
        </p:nvSpPr>
        <p:spPr>
          <a:xfrm>
            <a:off x="0" y="146713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🧹 1. Обработка пропусков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Признак </a:t>
            </a:r>
            <a:r>
              <a:rPr lang="ru-RU" dirty="0" err="1">
                <a:latin typeface="Courier New" panose="02070309020205020404" pitchFamily="49" charset="0"/>
              </a:rPr>
              <a:t>TotalCharges</a:t>
            </a:r>
            <a:r>
              <a:rPr lang="ru-RU" dirty="0"/>
              <a:t> содержал пропуски (как строковые значения)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Они были преобразованы в числовой формат и заполнены медианой 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🔢 2. Кодирование признаков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Категориальные признаки преобразованы с помощью </a:t>
            </a:r>
            <a:r>
              <a:rPr lang="ru-RU" b="1" dirty="0"/>
              <a:t>One-Hot </a:t>
            </a:r>
            <a:r>
              <a:rPr lang="ru-RU" b="1" dirty="0" err="1"/>
              <a:t>Encoding</a:t>
            </a:r>
            <a:r>
              <a:rPr lang="ru-RU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Это необходимо для работы моделей машинного обучения </a:t>
            </a:r>
          </a:p>
        </p:txBody>
      </p:sp>
    </p:spTree>
    <p:extLst>
      <p:ext uri="{BB962C8B-B14F-4D97-AF65-F5344CB8AC3E}">
        <p14:creationId xmlns:p14="http://schemas.microsoft.com/office/powerpoint/2010/main" val="292021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0286E-F572-2BD1-3B7A-EDC5A793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99"/>
            <a:ext cx="10515600" cy="1325563"/>
          </a:xfrm>
        </p:spPr>
        <p:txBody>
          <a:bodyPr/>
          <a:lstStyle/>
          <a:p>
            <a:r>
              <a:rPr lang="ru-RU" dirty="0"/>
              <a:t>Модели машинного обучения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C9130-2253-D1FA-04CF-70B8117B337B}"/>
              </a:ext>
            </a:extLst>
          </p:cNvPr>
          <p:cNvSpPr txBox="1"/>
          <p:nvPr/>
        </p:nvSpPr>
        <p:spPr>
          <a:xfrm>
            <a:off x="838200" y="1414562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Логистическая регрессия (</a:t>
            </a:r>
            <a:r>
              <a:rPr lang="ru-RU" b="1" dirty="0" err="1"/>
              <a:t>Logistic</a:t>
            </a:r>
            <a:r>
              <a:rPr lang="ru-RU" b="1" dirty="0"/>
              <a:t> </a:t>
            </a:r>
            <a:r>
              <a:rPr lang="ru-RU" b="1" dirty="0" err="1"/>
              <a:t>Regression</a:t>
            </a:r>
            <a:r>
              <a:rPr lang="ru-RU" b="1" dirty="0"/>
              <a:t>)</a:t>
            </a:r>
            <a:br>
              <a:rPr lang="ru-RU" dirty="0"/>
            </a:br>
            <a:r>
              <a:rPr lang="ru-RU" dirty="0"/>
              <a:t>Используется как базовая модель (</a:t>
            </a:r>
            <a:r>
              <a:rPr lang="ru-RU" dirty="0" err="1"/>
              <a:t>baseline</a:t>
            </a:r>
            <a:r>
              <a:rPr lang="ru-RU" dirty="0"/>
              <a:t>). Обладает высокой интерпретируемостью и позволяет оценить линейные зависимости между признаками и целевой переменной.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Случайный лес (</a:t>
            </a:r>
            <a:r>
              <a:rPr lang="ru-RU" b="1" dirty="0" err="1"/>
              <a:t>Random</a:t>
            </a:r>
            <a:r>
              <a:rPr lang="ru-RU" b="1" dirty="0"/>
              <a:t> </a:t>
            </a:r>
            <a:r>
              <a:rPr lang="ru-RU" b="1" dirty="0" err="1"/>
              <a:t>Forest</a:t>
            </a:r>
            <a:r>
              <a:rPr lang="ru-RU" b="1" dirty="0"/>
              <a:t>)</a:t>
            </a:r>
            <a:br>
              <a:rPr lang="ru-RU" dirty="0"/>
            </a:br>
            <a:r>
              <a:rPr lang="ru-RU" dirty="0"/>
              <a:t>Ансамблевый метод, основанный на множестве деревьев решений. Позволяет учитывать нелинейные зависимости и снижает риск переобучения.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Градиентный </a:t>
            </a:r>
            <a:r>
              <a:rPr lang="ru-RU" b="1" dirty="0" err="1"/>
              <a:t>бустинг</a:t>
            </a:r>
            <a:r>
              <a:rPr lang="ru-RU" b="1" dirty="0"/>
              <a:t> (</a:t>
            </a:r>
            <a:r>
              <a:rPr lang="ru-RU" b="1" dirty="0" err="1"/>
              <a:t>XGBoost</a:t>
            </a:r>
            <a:r>
              <a:rPr lang="ru-RU" b="1" dirty="0"/>
              <a:t>)</a:t>
            </a:r>
            <a:br>
              <a:rPr lang="ru-RU" dirty="0"/>
            </a:br>
            <a:r>
              <a:rPr lang="ru-RU" dirty="0"/>
              <a:t>Один из наиболее эффективных алгоритмов для табличных данных. Использует последовательное обучение моделей и позволяет достигать высокой точности предсказаний.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💡 Обоснование выбора моделей</a:t>
            </a:r>
          </a:p>
          <a:p>
            <a:pPr>
              <a:buNone/>
            </a:pPr>
            <a:r>
              <a:rPr lang="ru-RU" dirty="0"/>
              <a:t>Выбранные модели позволяют сравнить простые и интерпретируемые методы с более сложными ансамблевыми алгоритмами, а также оценить влияние нелинейных зависимостей 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75872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8767C-AF16-E7F4-940F-14FA636F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05" y="-123085"/>
            <a:ext cx="10515600" cy="1325563"/>
          </a:xfrm>
        </p:spPr>
        <p:txBody>
          <a:bodyPr/>
          <a:lstStyle/>
          <a:p>
            <a:r>
              <a:rPr lang="ru-RU" dirty="0"/>
              <a:t>Результаты моделей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E54B56-3C6E-DB06-FC7D-6C44EAE8B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18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Сравнение моделей	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18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19BA3BB-05F1-6D56-3519-56855AF7C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78953"/>
              </p:ext>
            </p:extLst>
          </p:nvPr>
        </p:nvGraphicFramePr>
        <p:xfrm>
          <a:off x="188205" y="1760857"/>
          <a:ext cx="4390505" cy="3108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878101">
                  <a:extLst>
                    <a:ext uri="{9D8B030D-6E8A-4147-A177-3AD203B41FA5}">
                      <a16:colId xmlns:a16="http://schemas.microsoft.com/office/drawing/2014/main" val="3837709876"/>
                    </a:ext>
                  </a:extLst>
                </a:gridCol>
                <a:gridCol w="878101">
                  <a:extLst>
                    <a:ext uri="{9D8B030D-6E8A-4147-A177-3AD203B41FA5}">
                      <a16:colId xmlns:a16="http://schemas.microsoft.com/office/drawing/2014/main" val="391423132"/>
                    </a:ext>
                  </a:extLst>
                </a:gridCol>
                <a:gridCol w="878101">
                  <a:extLst>
                    <a:ext uri="{9D8B030D-6E8A-4147-A177-3AD203B41FA5}">
                      <a16:colId xmlns:a16="http://schemas.microsoft.com/office/drawing/2014/main" val="3963988879"/>
                    </a:ext>
                  </a:extLst>
                </a:gridCol>
                <a:gridCol w="878101">
                  <a:extLst>
                    <a:ext uri="{9D8B030D-6E8A-4147-A177-3AD203B41FA5}">
                      <a16:colId xmlns:a16="http://schemas.microsoft.com/office/drawing/2014/main" val="3867664922"/>
                    </a:ext>
                  </a:extLst>
                </a:gridCol>
                <a:gridCol w="878101">
                  <a:extLst>
                    <a:ext uri="{9D8B030D-6E8A-4147-A177-3AD203B41FA5}">
                      <a16:colId xmlns:a16="http://schemas.microsoft.com/office/drawing/2014/main" val="2892875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AUC-ROC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838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0.8425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0.8034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0.5561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0.6003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5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0.8304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0.7885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0.5241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0.5681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687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0.8270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0.7906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0.5027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0.5604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80148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D003CF5-1C2F-7A50-94BD-1CEED5E6A919}"/>
              </a:ext>
            </a:extLst>
          </p:cNvPr>
          <p:cNvSpPr txBox="1"/>
          <p:nvPr/>
        </p:nvSpPr>
        <p:spPr>
          <a:xfrm>
            <a:off x="5593814" y="4501360"/>
            <a:ext cx="60978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ROC-кривая демонстрирует качество бинарной классификации модели.</a:t>
            </a:r>
            <a:br>
              <a:rPr lang="ru-RU" dirty="0"/>
            </a:br>
            <a:r>
              <a:rPr lang="ru-RU" dirty="0"/>
              <a:t>Чем ближе кривая расположена к левому верхнему углу, тем лучше модель разделяет клиентов, склонных к оттоку, и клиентов, остающихся в компании.</a:t>
            </a:r>
          </a:p>
          <a:p>
            <a:pPr>
              <a:buNone/>
            </a:pPr>
            <a:r>
              <a:rPr lang="ru-RU" dirty="0"/>
              <a:t>Значение AUC-ROC = 0.8425 указывает на хорошее качество модели и высокую способность ранжировать вероятность оттока клиентов.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95B0A55-D6AF-887D-CCD2-EB36D117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474" y="745805"/>
            <a:ext cx="4970516" cy="356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00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22FAE3-443A-F3FC-E55C-CA1C41549B88}"/>
              </a:ext>
            </a:extLst>
          </p:cNvPr>
          <p:cNvSpPr txBox="1"/>
          <p:nvPr/>
        </p:nvSpPr>
        <p:spPr>
          <a:xfrm>
            <a:off x="616945" y="892598"/>
            <a:ext cx="85298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Лучшая модель- </a:t>
            </a:r>
            <a:r>
              <a:rPr lang="ru-RU" dirty="0" err="1"/>
              <a:t>Logistic</a:t>
            </a:r>
            <a:r>
              <a:rPr lang="ru-RU" dirty="0"/>
              <a:t> </a:t>
            </a:r>
            <a:r>
              <a:rPr lang="ru-RU" dirty="0" err="1"/>
              <a:t>Regression</a:t>
            </a:r>
            <a:r>
              <a:rPr lang="ru-RU" dirty="0"/>
              <a:t> показала наилучший результат по метрике AUC-ROC (0.8425).</a:t>
            </a:r>
          </a:p>
          <a:p>
            <a:endParaRPr lang="ru-RU" b="1" dirty="0"/>
          </a:p>
          <a:p>
            <a:pPr>
              <a:buNone/>
            </a:pPr>
            <a:r>
              <a:rPr lang="ru-RU" b="1" dirty="0"/>
              <a:t>Интерпретация результатов</a:t>
            </a:r>
          </a:p>
          <a:p>
            <a:pPr>
              <a:buNone/>
            </a:pPr>
            <a:r>
              <a:rPr lang="ru-RU" dirty="0"/>
              <a:t>Несмотря на то, что более сложные модели (</a:t>
            </a:r>
            <a:r>
              <a:rPr lang="ru-RU" dirty="0" err="1"/>
              <a:t>XGBoost</a:t>
            </a:r>
            <a:r>
              <a:rPr lang="ru-RU" dirty="0"/>
              <a:t> и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) способны учитывать нелинейные зависимости, в данном случае простая логистическая регрессия показала лучший результат.</a:t>
            </a:r>
          </a:p>
          <a:p>
            <a:pPr>
              <a:buNone/>
            </a:pPr>
            <a:r>
              <a:rPr lang="ru-RU" dirty="0"/>
              <a:t>Это может говорить о том, что: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зависимости в данных частично линейные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признаки уже хорошо подготовлены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модель легко обобщает закономерности 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🎯 Вывод</a:t>
            </a:r>
          </a:p>
          <a:p>
            <a:pPr>
              <a:buNone/>
            </a:pPr>
            <a:r>
              <a:rPr lang="ru-RU" dirty="0"/>
              <a:t>Полученные результаты подтверждают, что задача прогнозирования оттока может эффективно решаться с помощью классических методов машинного обучения, при этом достигается хорошее качество предсказания.</a:t>
            </a:r>
          </a:p>
        </p:txBody>
      </p:sp>
    </p:spTree>
    <p:extLst>
      <p:ext uri="{BB962C8B-B14F-4D97-AF65-F5344CB8AC3E}">
        <p14:creationId xmlns:p14="http://schemas.microsoft.com/office/powerpoint/2010/main" val="25557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65F79-6A22-9383-A670-AE85A8D4A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Лучшая 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17181-AB3E-5699-041A-CFEDE6367C5B}"/>
              </a:ext>
            </a:extLst>
          </p:cNvPr>
          <p:cNvSpPr txBox="1"/>
          <p:nvPr/>
        </p:nvSpPr>
        <p:spPr>
          <a:xfrm>
            <a:off x="838200" y="948287"/>
            <a:ext cx="10515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В результате сравнения моделей лучшей оказалась </a:t>
            </a:r>
            <a:r>
              <a:rPr lang="ru-RU" b="1" dirty="0"/>
              <a:t>логистическая регрессия</a:t>
            </a:r>
            <a:r>
              <a:rPr lang="ru-RU" dirty="0"/>
              <a:t>, которая показала наивысшее значение метрики ROC-AUC = 0.8425.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🏆 Почему именно эта модель</a:t>
            </a:r>
          </a:p>
          <a:p>
            <a:pPr>
              <a:buNone/>
            </a:pPr>
            <a:r>
              <a:rPr lang="ru-RU" dirty="0"/>
              <a:t>Несмотря на то, что ансамблевые методы (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 и </a:t>
            </a:r>
            <a:r>
              <a:rPr lang="ru-RU" dirty="0" err="1"/>
              <a:t>XGBoost</a:t>
            </a:r>
            <a:r>
              <a:rPr lang="ru-RU" dirty="0"/>
              <a:t>) обычно демонстрируют высокую точность, в данном случае логистическая регрессия показала лучший результат.</a:t>
            </a:r>
          </a:p>
          <a:p>
            <a:pPr>
              <a:buNone/>
            </a:pPr>
            <a:r>
              <a:rPr lang="ru-RU" dirty="0"/>
              <a:t>Это может объясняться следующими причинами: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зависимости между признаками и целевой переменной частично линейные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данные хорошо подготовлены и очищены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отсутствует сильная сложная нелинейность в структуре данных 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📌 Преимущества выбранной модели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высокая интерпретируемость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простота внедрения в бизнес-системы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быстрые вычисления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возможность объяснять результаты клиентам и бизнесу 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🎯 Итог</a:t>
            </a:r>
          </a:p>
          <a:p>
            <a:pPr>
              <a:buNone/>
            </a:pPr>
            <a:r>
              <a:rPr lang="ru-RU" dirty="0"/>
              <a:t>Логистическая регрессия является оптимальным выбором в данной задаче, так как сочетает в себе достаточную точность и высокую интерпретируемость, что особенно важно для бизнес-применения.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113682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81602-66DA-32AA-C780-CCEDDB10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ошибок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7B9D05-35C5-3912-8E7E-CCC41354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98" y="1528497"/>
            <a:ext cx="4858428" cy="3801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ACEE34-2FDE-BE58-72EE-32926332EB88}"/>
              </a:ext>
            </a:extLst>
          </p:cNvPr>
          <p:cNvSpPr txBox="1"/>
          <p:nvPr/>
        </p:nvSpPr>
        <p:spPr>
          <a:xfrm>
            <a:off x="5423966" y="1690688"/>
            <a:ext cx="60978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Матрица ошибок показывает количество правильных и ошибочных предсказаний модели.</a:t>
            </a:r>
          </a:p>
          <a:p>
            <a:pPr>
              <a:buNone/>
            </a:pPr>
            <a:r>
              <a:rPr lang="ru-RU" dirty="0"/>
              <a:t>Модель корректно определила: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915</a:t>
            </a:r>
            <a:r>
              <a:rPr lang="ru-RU" dirty="0"/>
              <a:t> клиентов, которые не ушли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196</a:t>
            </a:r>
            <a:r>
              <a:rPr lang="ru-RU" dirty="0"/>
              <a:t> клиентов, склонных к оттоку </a:t>
            </a:r>
          </a:p>
          <a:p>
            <a:pPr>
              <a:buNone/>
            </a:pPr>
            <a:r>
              <a:rPr lang="ru-RU" dirty="0"/>
              <a:t>Ошибки модели: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120</a:t>
            </a:r>
            <a:r>
              <a:rPr lang="ru-RU" dirty="0"/>
              <a:t> ложных срабатываний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178</a:t>
            </a:r>
            <a:r>
              <a:rPr lang="ru-RU" dirty="0"/>
              <a:t> пропущенных случаев оттока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389B0-BCA2-1827-ECED-F476595EF568}"/>
              </a:ext>
            </a:extLst>
          </p:cNvPr>
          <p:cNvSpPr txBox="1"/>
          <p:nvPr/>
        </p:nvSpPr>
        <p:spPr>
          <a:xfrm>
            <a:off x="670198" y="5454736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Полученные результаты подтверждают, что модель достаточно эффективно определяет клиентов с высоким риском ухода и может использоваться для задач удержания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2418425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E6B44-2BEC-028B-3711-53E87788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ВАЖНЫЕ ПРИЗНАКИ (</a:t>
            </a:r>
            <a:r>
              <a:rPr lang="en-US" dirty="0"/>
              <a:t>FEATURE IMPORTANCE)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0BBB56-C648-0EC0-5513-592422D7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9" y="1839074"/>
            <a:ext cx="7119918" cy="35567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8E7B99-80E6-6780-E917-342ACA621417}"/>
              </a:ext>
            </a:extLst>
          </p:cNvPr>
          <p:cNvSpPr txBox="1"/>
          <p:nvPr/>
        </p:nvSpPr>
        <p:spPr>
          <a:xfrm>
            <a:off x="7664521" y="1690688"/>
            <a:ext cx="402747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b="1" dirty="0"/>
              <a:t>Топ-5 ключевых факторов оттока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Тип контракта (</a:t>
            </a:r>
            <a:r>
              <a:rPr lang="ru-RU" sz="1800" b="1" dirty="0" err="1"/>
              <a:t>Contract</a:t>
            </a:r>
            <a:r>
              <a:rPr lang="ru-RU" sz="1800" b="1" dirty="0"/>
              <a:t>)</a:t>
            </a:r>
            <a:r>
              <a:rPr lang="ru-RU" sz="1800" dirty="0"/>
              <a:t> — особенно помесячные контракты значительно увеличивают вероятность ухода клиента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Срок пользования услугами (</a:t>
            </a:r>
            <a:r>
              <a:rPr lang="ru-RU" sz="1800" b="1" dirty="0" err="1"/>
              <a:t>tenure</a:t>
            </a:r>
            <a:r>
              <a:rPr lang="ru-RU" sz="1800" b="1" dirty="0"/>
              <a:t>)</a:t>
            </a:r>
            <a:r>
              <a:rPr lang="ru-RU" sz="1800" dirty="0"/>
              <a:t> — новые клиенты чаще уходят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Ежемесячные платежи (</a:t>
            </a:r>
            <a:r>
              <a:rPr lang="ru-RU" sz="1800" b="1" dirty="0" err="1"/>
              <a:t>MonthlyCharges</a:t>
            </a:r>
            <a:r>
              <a:rPr lang="ru-RU" sz="1800" b="1" dirty="0"/>
              <a:t>)</a:t>
            </a:r>
            <a:r>
              <a:rPr lang="ru-RU" sz="1800" dirty="0"/>
              <a:t> — высокая стоимость повышает риск оттока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Тип интернет-сервиса (</a:t>
            </a:r>
            <a:r>
              <a:rPr lang="ru-RU" sz="1800" b="1" dirty="0" err="1"/>
              <a:t>InternetService</a:t>
            </a:r>
            <a:r>
              <a:rPr lang="ru-RU" sz="1800" b="1" dirty="0"/>
              <a:t>)</a:t>
            </a:r>
            <a:r>
              <a:rPr lang="ru-RU" sz="1800" dirty="0"/>
              <a:t> — пользователи </a:t>
            </a:r>
            <a:r>
              <a:rPr lang="ru-RU" sz="1800" dirty="0" err="1"/>
              <a:t>Fiber</a:t>
            </a:r>
            <a:r>
              <a:rPr lang="ru-RU" sz="1800" dirty="0"/>
              <a:t> </a:t>
            </a:r>
            <a:r>
              <a:rPr lang="ru-RU" sz="1800" dirty="0" err="1"/>
              <a:t>optic</a:t>
            </a:r>
            <a:r>
              <a:rPr lang="ru-RU" sz="1800" dirty="0"/>
              <a:t> чаще уходят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Способ оплаты (</a:t>
            </a:r>
            <a:r>
              <a:rPr lang="ru-RU" sz="1800" b="1" dirty="0" err="1"/>
              <a:t>PaymentMethod</a:t>
            </a:r>
            <a:r>
              <a:rPr lang="ru-RU" sz="1800" b="1" dirty="0"/>
              <a:t>)</a:t>
            </a:r>
            <a:r>
              <a:rPr lang="ru-RU" sz="1800" dirty="0"/>
              <a:t> — электронные платежи связаны с более высоким </a:t>
            </a:r>
            <a:r>
              <a:rPr lang="ru-RU" sz="1800" dirty="0" err="1"/>
              <a:t>churn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12205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983F3-ED6E-A171-EE34-B2492229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 модели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78AC7-11A8-B9E4-7468-132881020B9B}"/>
              </a:ext>
            </a:extLst>
          </p:cNvPr>
          <p:cNvSpPr txBox="1"/>
          <p:nvPr/>
        </p:nvSpPr>
        <p:spPr>
          <a:xfrm>
            <a:off x="838200" y="1382082"/>
            <a:ext cx="6097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Клиент 1: вероятность оттока = 4.59% </a:t>
            </a:r>
          </a:p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Клиент 2: вероятность оттока = 68.49% Клиент 3: вероятность оттока = 6.34% </a:t>
            </a:r>
          </a:p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Клиент 4: вероятность оттока = 39.24% Клиент 5: вероятность оттока = 2.04%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D75F5-971A-6B43-1DE8-A3B3429118FA}"/>
              </a:ext>
            </a:extLst>
          </p:cNvPr>
          <p:cNvSpPr txBox="1"/>
          <p:nvPr/>
        </p:nvSpPr>
        <p:spPr>
          <a:xfrm>
            <a:off x="838200" y="3795844"/>
            <a:ext cx="88713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Модель получает данные о клиенте и рассчитывает вероятность его ухода из компании.</a:t>
            </a:r>
          </a:p>
          <a:p>
            <a:pPr>
              <a:buNone/>
            </a:pPr>
            <a:r>
              <a:rPr lang="ru-RU" dirty="0"/>
              <a:t>Клиенты с высокой вероятностью </a:t>
            </a:r>
            <a:r>
              <a:rPr lang="ru-RU" dirty="0" err="1"/>
              <a:t>churn</a:t>
            </a:r>
            <a:r>
              <a:rPr lang="ru-RU" dirty="0"/>
              <a:t> могут автоматически включаться в программы удержания: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персональные скидки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бонусы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специальные тарифы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приоритетная поддержка </a:t>
            </a:r>
          </a:p>
          <a:p>
            <a:pPr>
              <a:buNone/>
            </a:pPr>
            <a:r>
              <a:rPr lang="ru-RU" dirty="0"/>
              <a:t>Это позволяет компании принимать решения на основе данных и снижать уровень оттока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465321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3D051-2C2A-C506-15E2-75D22AC6F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19"/>
            <a:ext cx="10515600" cy="1325563"/>
          </a:xfrm>
        </p:spPr>
        <p:txBody>
          <a:bodyPr/>
          <a:lstStyle/>
          <a:p>
            <a:r>
              <a:rPr lang="ru-RU" dirty="0"/>
              <a:t>Бизнес-эффект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91FAA-CA5A-DA45-6742-BE10F282872E}"/>
              </a:ext>
            </a:extLst>
          </p:cNvPr>
          <p:cNvSpPr txBox="1"/>
          <p:nvPr/>
        </p:nvSpPr>
        <p:spPr>
          <a:xfrm>
            <a:off x="5966716" y="244536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Построенная модель прогнозирования оттока клиентов позволяет перейти от реактивного подхода к проактивному управлению клиентской базой.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DE92B-1D92-C4A2-0334-18FAC2879C74}"/>
              </a:ext>
            </a:extLst>
          </p:cNvPr>
          <p:cNvSpPr txBox="1"/>
          <p:nvPr/>
        </p:nvSpPr>
        <p:spPr>
          <a:xfrm>
            <a:off x="747445" y="1368982"/>
            <a:ext cx="91431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📌 Основной эффект от внедрения модели</a:t>
            </a:r>
          </a:p>
          <a:p>
            <a:pPr>
              <a:buNone/>
            </a:pPr>
            <a:r>
              <a:rPr lang="ru-RU" dirty="0"/>
              <a:t>Использование модели позволяет: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заранее выявлять клиентов с высоким риском ухода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проводить персонализированные </a:t>
            </a:r>
            <a:r>
              <a:rPr lang="ru-RU" dirty="0" err="1"/>
              <a:t>retention</a:t>
            </a:r>
            <a:r>
              <a:rPr lang="ru-RU" dirty="0"/>
              <a:t>-кампании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снижать общий уровень оттока клиентов 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💰 Экономический эффект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Удержание клиента обходится значительно дешевле, чем его привлечение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Даже небольшое снижение оттока (на 5–10%) приводит к существенному росту прибыли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Повышается Customer </a:t>
            </a:r>
            <a:r>
              <a:rPr lang="ru-RU" dirty="0" err="1"/>
              <a:t>Lifetime</a:t>
            </a:r>
            <a:r>
              <a:rPr lang="ru-RU" dirty="0"/>
              <a:t> Value (CLV) 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b="1" dirty="0"/>
              <a:t>🎯 Практическое применение</a:t>
            </a:r>
          </a:p>
          <a:p>
            <a:pPr>
              <a:buNone/>
            </a:pPr>
            <a:r>
              <a:rPr lang="ru-RU" dirty="0"/>
              <a:t>Модель может быть интегрирована в CRM-систему компании и использоваться для: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автоматического расчёта вероятности оттока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формирования списка “рисковых” клиентов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принятия решений маркетинговой командой</a:t>
            </a:r>
          </a:p>
        </p:txBody>
      </p:sp>
    </p:spTree>
    <p:extLst>
      <p:ext uri="{BB962C8B-B14F-4D97-AF65-F5344CB8AC3E}">
        <p14:creationId xmlns:p14="http://schemas.microsoft.com/office/powerpoint/2010/main" val="3730086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287CD-46D2-126A-0EA4-CABD689E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40336-9C7D-9A45-32C8-2310FBB71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675"/>
            <a:ext cx="10515600" cy="578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dirty="0"/>
              <a:t>В рамках данной курсовой работы был реализован полный цикл разработки системы машинного обучения для решения задачи прогнозирования оттока клиентов телекоммуникационной компании.</a:t>
            </a:r>
          </a:p>
          <a:p>
            <a:endParaRPr lang="ru-RU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772F8-C5E9-58E4-2495-7D068CB88377}"/>
              </a:ext>
            </a:extLst>
          </p:cNvPr>
          <p:cNvSpPr txBox="1"/>
          <p:nvPr/>
        </p:nvSpPr>
        <p:spPr>
          <a:xfrm>
            <a:off x="838200" y="2106203"/>
            <a:ext cx="60977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Итоги работы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Сформулирована бизнес-задача прогнозирования оттока клиентов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Проведён анализ данных и выявлены ключевые факторы ухода клиентов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Выполнена предобработка и подготовка данных для моделирования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Обучены и сравнены несколько моделей машинного обучения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Выбрана оптимальная модель на основе метрик качества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6C1E6-ED4E-356D-F2A1-803F50222F6C}"/>
              </a:ext>
            </a:extLst>
          </p:cNvPr>
          <p:cNvSpPr txBox="1"/>
          <p:nvPr/>
        </p:nvSpPr>
        <p:spPr>
          <a:xfrm>
            <a:off x="7816065" y="2551837"/>
            <a:ext cx="33313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🏆 Основной результат</a:t>
            </a:r>
          </a:p>
          <a:p>
            <a:pPr>
              <a:buNone/>
            </a:pPr>
            <a:r>
              <a:rPr lang="ru-RU" dirty="0"/>
              <a:t>Построена модель машинного обучения, способная прогнозировать вероятность оттока клиентов с качеством:</a:t>
            </a:r>
          </a:p>
          <a:p>
            <a:pPr>
              <a:buNone/>
            </a:pPr>
            <a:r>
              <a:rPr lang="ru-RU" b="1" dirty="0"/>
              <a:t>ROC-AUC = 0.8425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825FF-29A0-FC82-2C5E-B19C18A823F3}"/>
              </a:ext>
            </a:extLst>
          </p:cNvPr>
          <p:cNvSpPr txBox="1"/>
          <p:nvPr/>
        </p:nvSpPr>
        <p:spPr>
          <a:xfrm>
            <a:off x="838200" y="4968525"/>
            <a:ext cx="80986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Вывод</a:t>
            </a:r>
          </a:p>
          <a:p>
            <a:r>
              <a:rPr lang="ru-RU" dirty="0"/>
              <a:t>Разработанная модель машинного обучения позволяет эффективно прогнозировать риск оттока клиентов и может использоваться как инструмент поддержки принятия решений в CRM и </a:t>
            </a:r>
            <a:r>
              <a:rPr lang="ru-RU" dirty="0" err="1"/>
              <a:t>retention</a:t>
            </a:r>
            <a:r>
              <a:rPr lang="ru-RU" dirty="0"/>
              <a:t>-системах телекоммуникационной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15481204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1553</Words>
  <Application>Microsoft Office PowerPoint</Application>
  <PresentationFormat>Широкоэкранный</PresentationFormat>
  <Paragraphs>233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Тема Office</vt:lpstr>
      <vt:lpstr>Прогнозирование оттока клиентов телеком-компании</vt:lpstr>
      <vt:lpstr>Бизнес-проблема</vt:lpstr>
      <vt:lpstr>Цель проекта</vt:lpstr>
      <vt:lpstr>Гипотеза</vt:lpstr>
      <vt:lpstr>Описание данных</vt:lpstr>
      <vt:lpstr>График оттока клиентов</vt:lpstr>
      <vt:lpstr>EDA (разведочный анализ данных)</vt:lpstr>
      <vt:lpstr>EDA (разведочный анализ данных)</vt:lpstr>
      <vt:lpstr>Предобработка данных</vt:lpstr>
      <vt:lpstr>Модели машинного обучения</vt:lpstr>
      <vt:lpstr>Результаты моделей</vt:lpstr>
      <vt:lpstr>Презентация PowerPoint</vt:lpstr>
      <vt:lpstr>Лучшая модель</vt:lpstr>
      <vt:lpstr>Матрица ошибок</vt:lpstr>
      <vt:lpstr>ВАЖНЫЕ ПРИЗНАКИ (FEATURE IMPORTANCE)</vt:lpstr>
      <vt:lpstr>Демонстрация работы модели</vt:lpstr>
      <vt:lpstr>Бизнес-эффект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Лаврентий Ямпуров</dc:creator>
  <cp:lastModifiedBy>Лаврентий Ямпуров</cp:lastModifiedBy>
  <cp:revision>2</cp:revision>
  <dcterms:created xsi:type="dcterms:W3CDTF">2026-05-03T14:45:40Z</dcterms:created>
  <dcterms:modified xsi:type="dcterms:W3CDTF">2026-05-04T11:48:33Z</dcterms:modified>
</cp:coreProperties>
</file>
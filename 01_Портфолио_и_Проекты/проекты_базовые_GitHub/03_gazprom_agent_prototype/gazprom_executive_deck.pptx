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097280"/>
            <a:ext cx="10362895" cy="4663440"/>
          </a:xfrm>
          <a:prstGeom prst="roundRect">
            <a:avLst/>
          </a:prstGeom>
          <a:solidFill>
            <a:srgbClr val="103052"/>
          </a:solidFill>
          <a:ln w="1905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1645920"/>
            <a:ext cx="9235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72CE"/>
                </a:solidFill>
              </a:defRPr>
            </a:pPr>
            <a:r>
              <a:t>ДЕПАРТАМЕНТ СТРАТЕГИЧЕСКИХ ИНИЦИАТИВ И УПРАВЛЕНИЯ РАЗВИТИЕМ</a:t>
            </a:r>
          </a:p>
          <a:p>
            <a:pPr>
              <a:spcBef>
                <a:spcPts val="1200"/>
              </a:spcBef>
              <a:defRPr sz="2600" b="1">
                <a:solidFill>
                  <a:srgbClr val="FFFFFF"/>
                </a:solidFill>
              </a:defRPr>
            </a:pPr>
            <a:r>
              <a:t>Мультиагентная система стратегического анализа</a:t>
            </a:r>
            <a:br/>
            <a:r>
              <a:t>и сквозного каскадирования инициатив</a:t>
            </a:r>
          </a:p>
          <a:p>
            <a:pPr>
              <a:spcBef>
                <a:spcPts val="1400"/>
              </a:spcBef>
              <a:defRPr sz="1300">
                <a:solidFill>
                  <a:srgbClr val="CBD5E1"/>
                </a:solidFill>
              </a:defRPr>
            </a:pPr>
            <a:r>
              <a:t>Сквозной выпуск: RUN_20260916_090615 [ЖИВОЙ ОНЛАЙН-ПАРСИНГ] • 2026-09-16 09:06:15</a:t>
            </a:r>
          </a:p>
          <a:p>
            <a:pPr>
              <a:spcBef>
                <a:spcPts val="2000"/>
              </a:spcBef>
              <a:defRPr sz="1200">
                <a:solidFill>
                  <a:srgbClr val="0072CE"/>
                </a:solidFill>
              </a:defRPr>
            </a:pPr>
            <a:r>
              <a:t>Архитектор решения: Лаврентий Ямпуров | Режим: ONLINE_LIVE_PARSING | Статус: Production 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91440" cy="68580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ДСИиУР ПАО «ГАЗПРОМ НЕФТЬ» • МУЛЬТИАГЕНТНЫЙ КОНВЕЙЕР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Этап 1: Мониторинг рынка и карточка угрозы (Агент-Аналитик)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621792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ИДЕНТИФИЦИРОВАННЫЙ РЫНОЧНЫЙ СИГНАЛ: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WSJ: нефтяные компании США объявили о начале глобального топливного кризиса</a:t>
            </a:r>
          </a:p>
          <a:p>
            <a:pPr>
              <a:spcBef>
                <a:spcPts val="800"/>
              </a:spcBef>
              <a:defRPr sz="1100" b="1">
                <a:solidFill>
                  <a:srgbClr val="DC2626"/>
                </a:solidFill>
              </a:defRPr>
            </a:pPr>
            <a:r>
              <a:t>Источник: Коммерсантъ Бизнес / ТЭК  •  Критичность: ВЫСОКАЯ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Сектор: Экспортная инфраструктура и макроэкономика ТЭК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Суть сигнала и контекст: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Глобальный топливный кризис, о котором предупреждали крупнейшие нефтяные компании мира, уже наступил. Руководители американских Chevron и ExxonMobil заявляют, что длительная блокировка Ормузского пролива и атака на нефтепровод «Восток -- Запад» в Саудовской Аравии привели к серье...</a:t>
            </a:r>
          </a:p>
          <a:p>
            <a:pPr>
              <a:spcBef>
                <a:spcPts val="1000"/>
              </a:spcBef>
              <a:defRPr sz="1100" b="1">
                <a:solidFill>
                  <a:srgbClr val="0072CE"/>
                </a:solidFill>
              </a:defRPr>
            </a:pPr>
            <a:r>
              <a:t>Затронутые дочерние общества (ДО):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• ПАО «Газпром нефть» (Корпоративный центр)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• ООО «Газпромнефть-Заполярье»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1417320"/>
            <a:ext cx="420624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600200"/>
            <a:ext cx="3749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РЕЗОЛЮЦИЯ АГЕНТА 1 (EARLY WARNING):</a:t>
            </a:r>
          </a:p>
          <a:p>
            <a:pPr>
              <a:spcBef>
                <a:spcPts val="1200"/>
              </a:spcBef>
              <a:defRPr sz="1000" b="1">
                <a:solidFill>
                  <a:srgbClr val="64748B"/>
                </a:solidFill>
              </a:defRPr>
            </a:pPr>
            <a:r>
              <a:t>СБОР ДАННЫХ</a:t>
            </a:r>
          </a:p>
          <a:p>
            <a:pPr>
              <a:spcBef>
                <a:spcPts val="200"/>
              </a:spcBef>
              <a:defRPr sz="1200" b="1">
                <a:solidFill>
                  <a:srgbClr val="0F172A"/>
                </a:solidFill>
              </a:defRPr>
            </a:pPr>
            <a:r>
              <a:t>ЖИВОЙ ОНЛАЙН-ПАРСИНГ</a:t>
            </a:r>
          </a:p>
          <a:p>
            <a:pPr>
              <a:spcBef>
                <a:spcPts val="1200"/>
              </a:spcBef>
              <a:defRPr sz="1000" b="1">
                <a:solidFill>
                  <a:srgbClr val="64748B"/>
                </a:solidFill>
              </a:defRPr>
            </a:pPr>
            <a:r>
              <a:t>КОНТРАКТ ДАННЫХ</a:t>
            </a:r>
          </a:p>
          <a:p>
            <a:pPr>
              <a:spcBef>
                <a:spcPts val="200"/>
              </a:spcBef>
              <a:defRPr sz="1200" b="1">
                <a:solidFill>
                  <a:srgbClr val="0F172A"/>
                </a:solidFill>
              </a:defRPr>
            </a:pPr>
            <a:r>
              <a:t>Pydantic v2 (ThreatSignal: 100% валидно)</a:t>
            </a:r>
          </a:p>
          <a:p>
            <a:pPr>
              <a:spcBef>
                <a:spcPts val="1200"/>
              </a:spcBef>
              <a:defRPr sz="1000" b="1">
                <a:solidFill>
                  <a:srgbClr val="64748B"/>
                </a:solidFill>
              </a:defRPr>
            </a:pPr>
            <a:r>
              <a:t>СРОЧНОСТЬ</a:t>
            </a:r>
          </a:p>
          <a:p>
            <a:pPr>
              <a:spcBef>
                <a:spcPts val="200"/>
              </a:spcBef>
              <a:defRPr sz="1200" b="1">
                <a:solidFill>
                  <a:srgbClr val="0F172A"/>
                </a:solidFill>
              </a:defRPr>
            </a:pPr>
            <a:r>
              <a:t>Высокая (горизонт реагирования 60-90 дней)</a:t>
            </a:r>
          </a:p>
          <a:p>
            <a:pPr>
              <a:spcBef>
                <a:spcPts val="1200"/>
              </a:spcBef>
              <a:defRPr sz="1000" b="1">
                <a:solidFill>
                  <a:srgbClr val="64748B"/>
                </a:solidFill>
              </a:defRPr>
            </a:pPr>
            <a:r>
              <a:t>ПЕРЕДАЧА</a:t>
            </a:r>
          </a:p>
          <a:p>
            <a:pPr>
              <a:spcBef>
                <a:spcPts val="200"/>
              </a:spcBef>
              <a:defRPr sz="1200" b="1">
                <a:solidFill>
                  <a:srgbClr val="0F172A"/>
                </a:solidFill>
              </a:defRPr>
            </a:pPr>
            <a:r>
              <a:t>Передано в Агент 2 для запуска Reflexion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91440" cy="68580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ДСИиУР ПАО «ГАЗПРОМ НЕФТЬ» • МУЛЬТИАГЕНТНЫЙ КОНВЕЙЕР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Этап 2: Синтез инициативы и самокритика Reflexion (Агент-Стратег)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621792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ИНВЕСТИЦИОННЫЙ ПАСПОРТ ИНИЦИАТИВЫ: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Форсированное внедрение отечественного высокотемпературного комплекса MWD/LWD с гиросистемой</a:t>
            </a:r>
          </a:p>
          <a:p>
            <a:pPr>
              <a:spcBef>
                <a:spcPts val="800"/>
              </a:spcBef>
              <a:defRPr sz="1200" b="1">
                <a:solidFill>
                  <a:srgbClr val="0072CE"/>
                </a:solidFill>
              </a:defRPr>
            </a:pPr>
            <a:r>
              <a:t>Бюджет CAPEX: 420.0 млн руб.  •  Окупаемость: 2.7 года</a:t>
            </a:r>
          </a:p>
          <a:p>
            <a:pPr>
              <a:spcBef>
                <a:spcPts val="400"/>
              </a:spcBef>
              <a:defRPr sz="1200" b="1">
                <a:solidFill>
                  <a:srgbClr val="16A34A"/>
                </a:solidFill>
              </a:defRPr>
            </a:pPr>
            <a:r>
              <a:t>Уровень TRL: 8 / 9  •  Локализация: 88.0%</a:t>
            </a:r>
          </a:p>
          <a:p>
            <a:pPr>
              <a:spcBef>
                <a:spcPts val="1400"/>
              </a:spcBef>
              <a:defRPr sz="1100" b="1">
                <a:solidFill>
                  <a:srgbClr val="0072CE"/>
                </a:solidFill>
              </a:defRPr>
            </a:pPr>
            <a:r>
              <a:t>КОНТУР САМОКРИТИКИ (REFLEXION LOOP):</a:t>
            </a:r>
          </a:p>
          <a:p>
            <a:pPr>
              <a:spcBef>
                <a:spcPts val="400"/>
              </a:spcBef>
              <a:defRPr sz="1050">
                <a:solidFill>
                  <a:srgbClr val="DC2626"/>
                </a:solidFill>
              </a:defRPr>
            </a:pPr>
            <a:r>
              <a:t>Итерация 1: 6.85 / 10.0 (ОТКЛОНЕНО КРИТИКОМ: Слишком высокая зависимость от внешних каналов и риск срыва ...)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Компенсационные меры: оптимизация CAPEX (-100 млн руб), прямой альянс с НИИ РФ, рост TRL.</a:t>
            </a:r>
          </a:p>
          <a:p>
            <a:pPr>
              <a:spcBef>
                <a:spcPts val="400"/>
              </a:spcBef>
              <a:defRPr sz="1100" b="1">
                <a:solidFill>
                  <a:srgbClr val="16A34A"/>
                </a:solidFill>
              </a:defRPr>
            </a:pPr>
            <a:r>
              <a:t>Итерация 2: 9.19 / 10.0 (ОДОБРЕНО ИНВЕСТКОМИТЕТОМ)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1417320"/>
            <a:ext cx="420624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60020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СКОРИНГ ИНВЕСТИЦИОННОГО КОМИТЕТА: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Санкционная устойчивость (30%): 9.5 / 10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</a:defRPr>
            </a:pPr>
            <a:r>
              <a:t>Импортозависимость снижена, поставки локализованы в РФ.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Финансы и CAPEX (30%): 9.0 / 10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</a:defRPr>
            </a:pPr>
            <a:r>
              <a:t>Окупаемость 2.7 г. при CAPEX 420.0 млн руб (норма инвесткомитета соблюдена).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Зрелость технологий TRL (20%): 8.8 / 10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</a:defRPr>
            </a:pPr>
            <a:r>
              <a:t>Уровень TRL 8: технология испытана и готова к серии.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ПБ, ОТ и экология (20%): 9.4 / 10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</a:defRPr>
            </a:pPr>
            <a:r>
              <a:t>Полное соответствие нормативам безаварийности и ESG.</a:t>
            </a:r>
          </a:p>
          <a:p>
            <a:pPr>
              <a:spcBef>
                <a:spcPts val="1400"/>
              </a:spcBef>
              <a:defRPr sz="1400" b="1">
                <a:solidFill>
                  <a:srgbClr val="16A34A"/>
                </a:solidFill>
              </a:defRPr>
            </a:pPr>
            <a:r>
              <a:t>ИТОГОВЫЙ ИНДЕКС: 9.19 / 10.0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91440" cy="68580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ДСИиУР ПАО «ГАЗПРОМ НЕФТЬ» • МУЛЬТИАГЕНТНЫЙ КОНВЕЙЕР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Этап 3.1: Каскадирование на Блок бурения и внутрискважинных работ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621792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ПРОИЗВОДСТВЕННАЯ ИНИЦИАТИВА ДЛЯ БУРОВИКОВ: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Перевод 12 эксплуатационных буровых бригад на отечественные комплексы с предиктивным контролем.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Профессиональный контекст: Проходка на станок, коммерческая скорость, безаварийность КНБК, MWD телеметрия.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Операционный план мероприятий: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Проведение ОПР отечественных забойных компоновок на 6 скважинах Бажена.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Оснащение забойных двигателей датчиками вибрации повышенной термостойкости.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Обучение инженеров сопровождения работе с новым российским ПО.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1417320"/>
            <a:ext cx="420624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60020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ЦЕЛЕВЫЕ ПОКАЗАТЕЛИ ПОДРАЗДЕЛЕНИЯ: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Коммерческая скорость бурения</a:t>
            </a:r>
          </a:p>
          <a:p>
            <a:pPr>
              <a:spcBef>
                <a:spcPts val="200"/>
              </a:spcBef>
              <a:defRPr sz="1200" b="1">
                <a:solidFill>
                  <a:srgbClr val="16A34A"/>
                </a:solidFill>
              </a:defRPr>
            </a:pPr>
            <a:r>
              <a:t>Цель: 1 450 м/ст-мес (база: 1 280 м/ст-мес)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Доля отечественной телеметрии MWD</a:t>
            </a:r>
          </a:p>
          <a:p>
            <a:pPr>
              <a:spcBef>
                <a:spcPts val="200"/>
              </a:spcBef>
              <a:defRPr sz="1200" b="1">
                <a:solidFill>
                  <a:srgbClr val="16A34A"/>
                </a:solidFill>
              </a:defRPr>
            </a:pPr>
            <a:r>
              <a:t>Цель: 88% (база: 42%)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Снижение аварийности при проводке</a:t>
            </a:r>
          </a:p>
          <a:p>
            <a:pPr>
              <a:spcBef>
                <a:spcPts val="200"/>
              </a:spcBef>
              <a:defRPr sz="1200" b="1">
                <a:solidFill>
                  <a:srgbClr val="16A34A"/>
                </a:solidFill>
              </a:defRPr>
            </a:pPr>
            <a:r>
              <a:t>Цель: -25% (база: базовый уровень)</a:t>
            </a:r>
          </a:p>
          <a:p>
            <a:pPr>
              <a:spcBef>
                <a:spcPts val="1400"/>
              </a:spcBef>
              <a:defRPr sz="1100" b="1">
                <a:solidFill>
                  <a:srgbClr val="0072CE"/>
                </a:solidFill>
              </a:defRPr>
            </a:pPr>
            <a:r>
              <a:t>Минимизация рисков: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Формирование неснижаемого страхового запаса узлов забойной электроники на базах ПОО.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91440" cy="68580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ДСИиУР ПАО «ГАЗПРОМ НЕФТЬ» • МУЛЬТИАГЕНТНЫЙ КОНВЕЙЕР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Этап 3.2: Каскадирование на Логистику и Цифровизацию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521208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0020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ДЕПАРТАМЕНТ ЛОГИСТИКИ И ФЛОТА:</a:t>
            </a:r>
          </a:p>
          <a:p>
            <a:pPr>
              <a:spcBef>
                <a:spcPts val="400"/>
              </a:spcBef>
              <a:defRPr sz="1400" b="1">
                <a:solidFill>
                  <a:srgbClr val="0F172A"/>
                </a:solidFill>
              </a:defRPr>
            </a:pPr>
            <a:r>
              <a:t>Синхронизация поставок оборудования и отгрузок с графиками навигации СМП.</a:t>
            </a:r>
          </a:p>
          <a:p>
            <a:pPr>
              <a:spcBef>
                <a:spcPts val="600"/>
              </a:spcBef>
              <a:defRPr sz="1100" b="1">
                <a:solidFill>
                  <a:srgbClr val="16A34A"/>
                </a:solidFill>
              </a:defRPr>
            </a:pPr>
            <a:r>
              <a:t>Ключевой KPI: Срок экстренной доставки на промысел -&gt; &lt; 36 часов</a:t>
            </a:r>
          </a:p>
          <a:p>
            <a:pPr>
              <a:spcBef>
                <a:spcPts val="400"/>
              </a:spcBef>
              <a:defRPr sz="1100" b="1">
                <a:solidFill>
                  <a:srgbClr val="0072CE"/>
                </a:solidFill>
              </a:defRPr>
            </a:pPr>
            <a:r>
              <a:t>Экономия на фрахте: -45 млн руб/год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Операционные шаги: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• Создание буферного склада модулей в порту Сабетта и на терминале Мыса Каменного.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• Оптимизация плеча морской доставки за счет использования регулярных рейсов судов снабжения.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17320"/>
            <a:ext cx="521208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60020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ДИРЕКЦИЯ ЦИФРОВОЙ ТРАНСФОРМАЦИИ И ИТ:</a:t>
            </a:r>
          </a:p>
          <a:p>
            <a:pPr>
              <a:spcBef>
                <a:spcPts val="400"/>
              </a:spcBef>
              <a:defRPr sz="1400" b="1">
                <a:solidFill>
                  <a:srgbClr val="0F172A"/>
                </a:solidFill>
              </a:defRPr>
            </a:pPr>
            <a:r>
              <a:t>Интеграция телеметрии отечественного оборудования в защищенный локальный контур компании.</a:t>
            </a:r>
          </a:p>
          <a:p>
            <a:pPr>
              <a:spcBef>
                <a:spcPts val="600"/>
              </a:spcBef>
              <a:defRPr sz="1100" b="1">
                <a:solidFill>
                  <a:srgbClr val="16A34A"/>
                </a:solidFill>
              </a:defRPr>
            </a:pPr>
            <a:r>
              <a:t>Доверенное ПО: 100% (база 45%)</a:t>
            </a:r>
          </a:p>
          <a:p>
            <a:pPr>
              <a:spcBef>
                <a:spcPts val="400"/>
              </a:spcBef>
              <a:defRPr sz="1100" b="1">
                <a:solidFill>
                  <a:srgbClr val="0072CE"/>
                </a:solidFill>
              </a:defRPr>
            </a:pPr>
            <a:r>
              <a:t>Точность ML-прогнозов: &gt; 91%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Операционные шаги: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• Разработка защищенных шлюзов сопряжения с контроллерами на базе Astra Linux.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• Развертывание алгоритмов предиктивного анализа телеметрии для предотвращения инцидентов.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91440" cy="68580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ДСИиУР ПАО «ГАЗПРОМ НЕФТЬ» • МУЛЬТИАГЕНТНЫЙ КОНВЕЙЕР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Сквозная дорожная карта и резолюция для Стратегического комитета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3364992" cy="2926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299923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БУРЕНИЕ И ВСР</a:t>
            </a:r>
          </a:p>
          <a:p>
            <a:pPr>
              <a:spcBef>
                <a:spcPts val="800"/>
              </a:spcBef>
              <a:defRPr sz="1600" b="1">
                <a:solidFill>
                  <a:srgbClr val="16A34A"/>
                </a:solidFill>
              </a:defRPr>
            </a:pPr>
            <a:r>
              <a:t>+13% коммерческой скорости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Локализация 88% компонентов и безаварийное бурение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8" y="1417320"/>
            <a:ext cx="3364992" cy="2926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90288" y="1600200"/>
            <a:ext cx="299923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ЛОГИСТИКА И ФЛОТ</a:t>
            </a:r>
          </a:p>
          <a:p>
            <a:pPr>
              <a:spcBef>
                <a:spcPts val="800"/>
              </a:spcBef>
              <a:defRPr sz="1600" b="1">
                <a:solidFill>
                  <a:srgbClr val="16A34A"/>
                </a:solidFill>
              </a:defRPr>
            </a:pPr>
            <a:r>
              <a:t>-45 млн руб затрат на фрахт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Синхронизация буферных складов Сабетты и навигации СМП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83296" y="1417320"/>
            <a:ext cx="3364992" cy="2926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66176" y="1600200"/>
            <a:ext cx="299923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ИТ И ЦИФРОВИЗАЦИЯ</a:t>
            </a:r>
          </a:p>
          <a:p>
            <a:pPr>
              <a:spcBef>
                <a:spcPts val="800"/>
              </a:spcBef>
              <a:defRPr sz="1600" b="1">
                <a:solidFill>
                  <a:srgbClr val="16A34A"/>
                </a:solidFill>
              </a:defRPr>
            </a:pPr>
            <a:r>
              <a:t>100% доверенное ПО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Изоляция промысловых данных забоя и предиктивный анализ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0728655" cy="1737360"/>
          </a:xfrm>
          <a:prstGeom prst="round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709160"/>
            <a:ext cx="10149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РЕЗОЛЮЦИЯ ДЛЯ СТРАТЕГИЧЕСКОГО КОМИТЕТА: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</a:defRPr>
            </a:pPr>
            <a:r>
              <a:t>Мультиагентный конвейер на базе живого сетевого мониторинга отраслевых лент ТЭК сократил цикл 'Обнаружение угрозы -&gt; Синтез инвестиционной инициативы -&gt; Аудит нодой-критиком -&gt; Каскадирование по 3 блокам -&gt; Верстка презентации 16:9' с 14 рабочих дней до 1 секунды. Архитектура полностью детерминирована (Pydantic v2) и готова к развертыванию во внутреннем контуре компании.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